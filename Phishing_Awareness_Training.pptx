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 am Pataan Sana Firdhose. This presentation is my CodeAlpha Cyber Security Internship Task 2 on phishing awareness. Today we will learn how to recognize phishing, prevent it, and stay secure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a cyber attack where someone pretends to be trusted to trick you. The attacker sends a fake message, the user reacts, and data can be stolen. Attackers want money, access and identity details. They use email, SMS, calls, social media, fake websites and QR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follows five stages. First the attacker impersonates someone trusted. Second, a deceptive message is sent. Third, urgency and emotion pressure you. Fourth, you take an unsafe action like clicking or typing a password. Fifth, the account may be compromised. Breaking any stage stops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six common types. Email phishing is mass fake email. Spear phishing targets one person. Smishing uses SMS. Vishing uses phone calls. Clone phishing copies a real email and swaps the link. QR code phishing hides a fake link inside a QR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fictional phishing email. Look at the red numbers. One: the sender domain is unfamiliar. Two: the subject uses urgent language. Three: it asks for unexpected verification. Four: it asks for a password and OTP. Five: the link does not match a real organization. Hover over links before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fictional real-looking site next to a phishing copy. The fake one has a lookalike domain, asks for extra data like a card PIN and OTP, and may reach you through a misleading link. Remember: HTTPS only means the connection is encrypted. Attackers can use HTTPS too, so it never proves a site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works on people, not machines. Attackers use five levers: fear, urgency, authority, curiosity and trust. When a message makes you feel strong emotion or pressure, pause. That feeling is the signal to verify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illustrative scenarios, not verified historical incidents. Banking: a fake lock alert. Package: a fake delivery fee. College: a fake portal expiry. In each case, ignore the link and go to the official app, site or helpdesk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seven habits that protect you. Verify the sender. Avoid suspicious links. Use strong unique passwords. Turn on multi-factor authentication. Keep devices and browsers updated. Never share passwords or OTPs with anyone. And report suspicious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meet a phishing attempt, follow six steps. Stop interacting. Do not give any information. Verify through official channels. Report it. Change passwords on the real website. Finally review account activity and contact support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Q1 = B (Steal sensitive information). Q2 = A (Unexpected urgent requests). Q3 = A (Phishing through SMS). Q4 = B (No, HTTPS does not guarantee trust). Q5 = C (Visit the official website independently). Ask the audience to answer each question before you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think before you click. Recognize suspicious messages, verify identities and website addresses, protect your passwords, report attacks, and practice safe behavior. Cybersecurity begins with awareness.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457200" y="4846320"/>
            <a:ext cx="5486400" cy="22860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CodeAlpha Cyber Security Internship  |  Task 2: Phishing Awareness Training</a:t>
            </a:r>
            <a:endParaRPr lang="en-US" sz="9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5120640" y="411480"/>
            <a:ext cx="4206240" cy="4206240"/>
          </a:xfrm>
          <a:prstGeom prst="ellipse">
            <a:avLst/>
          </a:prstGeom>
          <a:solidFill>
            <a:srgbClr val="00D4FF">
              <a:alpha val="6000"/>
            </a:srgbClr>
          </a:solidFill>
          <a:ln w="6350">
            <a:solidFill>
              <a:srgbClr val="00D4FF">
                <a:alpha val="20000"/>
              </a:srgbClr>
            </a:solidFill>
            <a:prstDash val="solid"/>
          </a:ln>
        </p:spPr>
      </p:sp>
      <p:sp>
        <p:nvSpPr>
          <p:cNvPr id="4" name="Shape 1"/>
          <p:cNvSpPr/>
          <p:nvPr/>
        </p:nvSpPr>
        <p:spPr>
          <a:xfrm>
            <a:off x="5583326" y="874166"/>
            <a:ext cx="3280867" cy="3280867"/>
          </a:xfrm>
          <a:prstGeom prst="ellipse">
            <a:avLst/>
          </a:prstGeom>
          <a:solidFill>
            <a:srgbClr val="00D4FF">
              <a:alpha val="11000"/>
            </a:srgbClr>
          </a:solidFill>
          <a:ln w="6350">
            <a:solidFill>
              <a:srgbClr val="00D4FF">
                <a:alpha val="20000"/>
              </a:srgbClr>
            </a:solidFill>
            <a:prstDash val="solid"/>
          </a:ln>
        </p:spPr>
      </p:sp>
      <p:sp>
        <p:nvSpPr>
          <p:cNvPr id="5" name="Shape 2"/>
          <p:cNvSpPr/>
          <p:nvPr/>
        </p:nvSpPr>
        <p:spPr>
          <a:xfrm>
            <a:off x="6046013" y="1336853"/>
            <a:ext cx="2355494" cy="2355494"/>
          </a:xfrm>
          <a:prstGeom prst="ellipse">
            <a:avLst/>
          </a:prstGeom>
          <a:solidFill>
            <a:srgbClr val="00D4FF">
              <a:alpha val="16000"/>
            </a:srgbClr>
          </a:solidFill>
          <a:ln w="6350">
            <a:solidFill>
              <a:srgbClr val="00D4FF">
                <a:alpha val="20000"/>
              </a:srgbClr>
            </a:solidFill>
            <a:prstDash val="solid"/>
          </a:ln>
        </p:spPr>
      </p:sp>
      <p:pic>
        <p:nvPicPr>
          <p:cNvPr id="6" name="Image 0" descr="preencoded.png">    </p:cNvPr>
          <p:cNvPicPr>
            <a:picLocks noChangeAspect="1"/>
          </p:cNvPicPr>
          <p:nvPr/>
        </p:nvPicPr>
        <p:blipFill>
          <a:blip r:embed="rId1"/>
          <a:stretch>
            <a:fillRect/>
          </a:stretch>
        </p:blipFill>
        <p:spPr>
          <a:xfrm>
            <a:off x="6446520" y="1737360"/>
            <a:ext cx="1554480" cy="1554480"/>
          </a:xfrm>
          <a:prstGeom prst="rect">
            <a:avLst/>
          </a:prstGeom>
        </p:spPr>
      </p:pic>
      <p:sp>
        <p:nvSpPr>
          <p:cNvPr id="7" name="Text 3"/>
          <p:cNvSpPr txBox="1"/>
          <p:nvPr/>
        </p:nvSpPr>
        <p:spPr>
          <a:xfrm>
            <a:off x="457200" y="1051560"/>
            <a:ext cx="5486400" cy="274320"/>
          </a:xfrm>
          <a:prstGeom prst="rect">
            <a:avLst/>
          </a:prstGeom>
          <a:noFill/>
          <a:ln/>
        </p:spPr>
        <p:txBody>
          <a:bodyPr wrap="square" lIns="0" tIns="0" rIns="0" bIns="0" rtlCol="0" anchor="t"/>
          <a:lstStyle/>
          <a:p>
            <a:pPr indent="0" marL="0">
              <a:buNone/>
            </a:pPr>
            <a:r>
              <a:rPr lang="en-US" sz="1200" b="1" spc="400" kern="0" dirty="0">
                <a:solidFill>
                  <a:srgbClr val="00D4FF"/>
                </a:solidFill>
                <a:latin typeface="Calibri" pitchFamily="34" charset="0"/>
                <a:ea typeface="Calibri" pitchFamily="34" charset="-122"/>
                <a:cs typeface="Calibri" pitchFamily="34" charset="-120"/>
              </a:rPr>
              <a:t>CYBERSECURITY AWARENESS</a:t>
            </a:r>
            <a:endParaRPr lang="en-US" sz="1200" dirty="0"/>
          </a:p>
        </p:txBody>
      </p:sp>
      <p:sp>
        <p:nvSpPr>
          <p:cNvPr id="8" name="Text 4"/>
          <p:cNvSpPr txBox="1"/>
          <p:nvPr/>
        </p:nvSpPr>
        <p:spPr>
          <a:xfrm>
            <a:off x="457200" y="1463040"/>
            <a:ext cx="566928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PHISHING AWARENESS TRAINING</a:t>
            </a:r>
            <a:endParaRPr lang="en-US" sz="4000" dirty="0"/>
          </a:p>
        </p:txBody>
      </p:sp>
      <p:sp>
        <p:nvSpPr>
          <p:cNvPr id="9" name="Text 5"/>
          <p:cNvSpPr txBox="1"/>
          <p:nvPr/>
        </p:nvSpPr>
        <p:spPr>
          <a:xfrm>
            <a:off x="457200" y="3017520"/>
            <a:ext cx="5486400" cy="365760"/>
          </a:xfrm>
          <a:prstGeom prst="rect">
            <a:avLst/>
          </a:prstGeom>
          <a:noFill/>
          <a:ln/>
        </p:spPr>
        <p:txBody>
          <a:bodyPr wrap="square" lIns="0" tIns="0" rIns="0" bIns="0" rtlCol="0" anchor="t"/>
          <a:lstStyle/>
          <a:p>
            <a:pPr indent="0" marL="0">
              <a:buNone/>
            </a:pPr>
            <a:r>
              <a:rPr lang="en-US" sz="2000" dirty="0">
                <a:solidFill>
                  <a:srgbClr val="00D4FF"/>
                </a:solidFill>
                <a:latin typeface="Calibri" pitchFamily="34" charset="0"/>
                <a:ea typeface="Calibri" pitchFamily="34" charset="-122"/>
                <a:cs typeface="Calibri" pitchFamily="34" charset="-120"/>
              </a:rPr>
              <a:t>Recognize • Prevent • Stay Secure</a:t>
            </a:r>
            <a:endParaRPr lang="en-US" sz="2000" dirty="0"/>
          </a:p>
        </p:txBody>
      </p:sp>
      <p:sp>
        <p:nvSpPr>
          <p:cNvPr id="10" name="Text 6"/>
          <p:cNvSpPr txBox="1"/>
          <p:nvPr/>
        </p:nvSpPr>
        <p:spPr>
          <a:xfrm>
            <a:off x="457200" y="3611880"/>
            <a:ext cx="5486400" cy="27432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CodeAlpha Cyber Security Internship – Task 2</a:t>
            </a:r>
            <a:endParaRPr lang="en-US" sz="1400" dirty="0"/>
          </a:p>
        </p:txBody>
      </p:sp>
      <p:sp>
        <p:nvSpPr>
          <p:cNvPr id="11" name="Text 7"/>
          <p:cNvSpPr txBox="1"/>
          <p:nvPr/>
        </p:nvSpPr>
        <p:spPr>
          <a:xfrm>
            <a:off x="457200" y="3977640"/>
            <a:ext cx="548640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Presented by: PATAAN SANA FIRDHOSE</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Is Phishing?</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Deception designed to make you give away access</a:t>
            </a:r>
            <a:endParaRPr lang="en-US" sz="1300" dirty="0"/>
          </a:p>
        </p:txBody>
      </p:sp>
      <p:sp>
        <p:nvSpPr>
          <p:cNvPr id="5" name="Shape 2"/>
          <p:cNvSpPr/>
          <p:nvPr/>
        </p:nvSpPr>
        <p:spPr>
          <a:xfrm>
            <a:off x="457200" y="1234440"/>
            <a:ext cx="1645920" cy="914400"/>
          </a:xfrm>
          <a:prstGeom prst="roundRect">
            <a:avLst>
              <a:gd name="adj" fmla="val 8000"/>
            </a:avLst>
          </a:prstGeom>
          <a:solidFill>
            <a:srgbClr val="111C33"/>
          </a:solidFill>
          <a:ln w="12700">
            <a:solidFill>
              <a:srgbClr val="1F3157"/>
            </a:solidFill>
            <a:prstDash val="solid"/>
          </a:ln>
        </p:spPr>
      </p:sp>
      <p:sp>
        <p:nvSpPr>
          <p:cNvPr id="6" name="Shape 3"/>
          <p:cNvSpPr/>
          <p:nvPr/>
        </p:nvSpPr>
        <p:spPr>
          <a:xfrm>
            <a:off x="544982" y="1413662"/>
            <a:ext cx="555955" cy="555955"/>
          </a:xfrm>
          <a:prstGeom prst="ellipse">
            <a:avLst/>
          </a:prstGeom>
          <a:solidFill>
            <a:srgbClr val="EF4444">
              <a:alpha val="15000"/>
            </a:srgbClr>
          </a:solidFill>
          <a:ln w="9525">
            <a:solidFill>
              <a:srgbClr val="EF4444">
                <a:alpha val="50000"/>
              </a:srgbClr>
            </a:solidFill>
            <a:prstDash val="solid"/>
          </a:ln>
        </p:spPr>
      </p:sp>
      <p:pic>
        <p:nvPicPr>
          <p:cNvPr id="7" name="Image 0" descr="preencoded.png">    </p:cNvPr>
          <p:cNvPicPr>
            <a:picLocks noChangeAspect="1"/>
          </p:cNvPicPr>
          <p:nvPr/>
        </p:nvPicPr>
        <p:blipFill>
          <a:blip r:embed="rId1"/>
          <a:stretch>
            <a:fillRect/>
          </a:stretch>
        </p:blipFill>
        <p:spPr>
          <a:xfrm>
            <a:off x="676656" y="1545336"/>
            <a:ext cx="292608" cy="292608"/>
          </a:xfrm>
          <a:prstGeom prst="rect">
            <a:avLst/>
          </a:prstGeom>
        </p:spPr>
      </p:pic>
      <p:sp>
        <p:nvSpPr>
          <p:cNvPr id="8" name="Text 4"/>
          <p:cNvSpPr txBox="1"/>
          <p:nvPr/>
        </p:nvSpPr>
        <p:spPr>
          <a:xfrm>
            <a:off x="1188720" y="1371600"/>
            <a:ext cx="86868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Attacker</a:t>
            </a:r>
            <a:endParaRPr lang="en-US" sz="1200" dirty="0"/>
          </a:p>
        </p:txBody>
      </p:sp>
      <p:sp>
        <p:nvSpPr>
          <p:cNvPr id="9" name="Shape 5"/>
          <p:cNvSpPr/>
          <p:nvPr/>
        </p:nvSpPr>
        <p:spPr>
          <a:xfrm>
            <a:off x="2194560" y="1581912"/>
            <a:ext cx="365760" cy="228600"/>
          </a:xfrm>
          <a:prstGeom prst="rightArrow">
            <a:avLst/>
          </a:prstGeom>
          <a:solidFill>
            <a:srgbClr val="00D4FF"/>
          </a:solidFill>
          <a:ln w="12700">
            <a:solidFill>
              <a:srgbClr val="00D4FF"/>
            </a:solidFill>
            <a:prstDash val="solid"/>
          </a:ln>
        </p:spPr>
      </p:sp>
      <p:sp>
        <p:nvSpPr>
          <p:cNvPr id="10" name="Shape 6"/>
          <p:cNvSpPr/>
          <p:nvPr/>
        </p:nvSpPr>
        <p:spPr>
          <a:xfrm>
            <a:off x="2651760" y="1234440"/>
            <a:ext cx="1645920" cy="914400"/>
          </a:xfrm>
          <a:prstGeom prst="roundRect">
            <a:avLst>
              <a:gd name="adj" fmla="val 8000"/>
            </a:avLst>
          </a:prstGeom>
          <a:solidFill>
            <a:srgbClr val="111C33"/>
          </a:solidFill>
          <a:ln w="12700">
            <a:solidFill>
              <a:srgbClr val="1F3157"/>
            </a:solidFill>
            <a:prstDash val="solid"/>
          </a:ln>
        </p:spPr>
      </p:sp>
      <p:sp>
        <p:nvSpPr>
          <p:cNvPr id="11" name="Shape 7"/>
          <p:cNvSpPr/>
          <p:nvPr/>
        </p:nvSpPr>
        <p:spPr>
          <a:xfrm>
            <a:off x="2739542" y="1413662"/>
            <a:ext cx="555955" cy="555955"/>
          </a:xfrm>
          <a:prstGeom prst="ellipse">
            <a:avLst/>
          </a:prstGeom>
          <a:solidFill>
            <a:srgbClr val="00D4FF">
              <a:alpha val="15000"/>
            </a:srgbClr>
          </a:solidFill>
          <a:ln w="9525">
            <a:solidFill>
              <a:srgbClr val="00D4FF">
                <a:alpha val="50000"/>
              </a:srgbClr>
            </a:solidFill>
            <a:prstDash val="solid"/>
          </a:ln>
        </p:spPr>
      </p:sp>
      <p:pic>
        <p:nvPicPr>
          <p:cNvPr id="12" name="Image 1" descr="preencoded.png">    </p:cNvPr>
          <p:cNvPicPr>
            <a:picLocks noChangeAspect="1"/>
          </p:cNvPicPr>
          <p:nvPr/>
        </p:nvPicPr>
        <p:blipFill>
          <a:blip r:embed="rId2"/>
          <a:stretch>
            <a:fillRect/>
          </a:stretch>
        </p:blipFill>
        <p:spPr>
          <a:xfrm>
            <a:off x="2871216" y="1545336"/>
            <a:ext cx="292608" cy="292608"/>
          </a:xfrm>
          <a:prstGeom prst="rect">
            <a:avLst/>
          </a:prstGeom>
        </p:spPr>
      </p:pic>
      <p:sp>
        <p:nvSpPr>
          <p:cNvPr id="13" name="Text 8"/>
          <p:cNvSpPr txBox="1"/>
          <p:nvPr/>
        </p:nvSpPr>
        <p:spPr>
          <a:xfrm>
            <a:off x="3383280" y="1371600"/>
            <a:ext cx="86868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Fake Message</a:t>
            </a:r>
            <a:endParaRPr lang="en-US" sz="1200" dirty="0"/>
          </a:p>
        </p:txBody>
      </p:sp>
      <p:sp>
        <p:nvSpPr>
          <p:cNvPr id="14" name="Shape 9"/>
          <p:cNvSpPr/>
          <p:nvPr/>
        </p:nvSpPr>
        <p:spPr>
          <a:xfrm>
            <a:off x="4389120" y="1581912"/>
            <a:ext cx="365760" cy="228600"/>
          </a:xfrm>
          <a:prstGeom prst="rightArrow">
            <a:avLst/>
          </a:prstGeom>
          <a:solidFill>
            <a:srgbClr val="00D4FF"/>
          </a:solidFill>
          <a:ln w="12700">
            <a:solidFill>
              <a:srgbClr val="00D4FF"/>
            </a:solidFill>
            <a:prstDash val="solid"/>
          </a:ln>
        </p:spPr>
      </p:sp>
      <p:sp>
        <p:nvSpPr>
          <p:cNvPr id="15" name="Shape 10"/>
          <p:cNvSpPr/>
          <p:nvPr/>
        </p:nvSpPr>
        <p:spPr>
          <a:xfrm>
            <a:off x="4846320" y="1234440"/>
            <a:ext cx="1645920" cy="914400"/>
          </a:xfrm>
          <a:prstGeom prst="roundRect">
            <a:avLst>
              <a:gd name="adj" fmla="val 8000"/>
            </a:avLst>
          </a:prstGeom>
          <a:solidFill>
            <a:srgbClr val="111C33"/>
          </a:solidFill>
          <a:ln w="12700">
            <a:solidFill>
              <a:srgbClr val="1F3157"/>
            </a:solidFill>
            <a:prstDash val="solid"/>
          </a:ln>
        </p:spPr>
      </p:sp>
      <p:sp>
        <p:nvSpPr>
          <p:cNvPr id="16" name="Shape 11"/>
          <p:cNvSpPr/>
          <p:nvPr/>
        </p:nvSpPr>
        <p:spPr>
          <a:xfrm>
            <a:off x="4934102" y="1413662"/>
            <a:ext cx="555955" cy="555955"/>
          </a:xfrm>
          <a:prstGeom prst="ellipse">
            <a:avLst/>
          </a:prstGeom>
          <a:solidFill>
            <a:srgbClr val="00D4FF">
              <a:alpha val="15000"/>
            </a:srgbClr>
          </a:solidFill>
          <a:ln w="9525">
            <a:solidFill>
              <a:srgbClr val="00D4FF">
                <a:alpha val="50000"/>
              </a:srgbClr>
            </a:solidFill>
            <a:prstDash val="solid"/>
          </a:ln>
        </p:spPr>
      </p:sp>
      <p:pic>
        <p:nvPicPr>
          <p:cNvPr id="17" name="Image 2" descr="preencoded.png">    </p:cNvPr>
          <p:cNvPicPr>
            <a:picLocks noChangeAspect="1"/>
          </p:cNvPicPr>
          <p:nvPr/>
        </p:nvPicPr>
        <p:blipFill>
          <a:blip r:embed="rId3"/>
          <a:stretch>
            <a:fillRect/>
          </a:stretch>
        </p:blipFill>
        <p:spPr>
          <a:xfrm>
            <a:off x="5065776" y="1545336"/>
            <a:ext cx="292608" cy="292608"/>
          </a:xfrm>
          <a:prstGeom prst="rect">
            <a:avLst/>
          </a:prstGeom>
        </p:spPr>
      </p:pic>
      <p:sp>
        <p:nvSpPr>
          <p:cNvPr id="18" name="Text 12"/>
          <p:cNvSpPr txBox="1"/>
          <p:nvPr/>
        </p:nvSpPr>
        <p:spPr>
          <a:xfrm>
            <a:off x="5577840" y="1371600"/>
            <a:ext cx="86868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User</a:t>
            </a:r>
            <a:endParaRPr lang="en-US" sz="1200" dirty="0"/>
          </a:p>
        </p:txBody>
      </p:sp>
      <p:sp>
        <p:nvSpPr>
          <p:cNvPr id="19" name="Shape 13"/>
          <p:cNvSpPr/>
          <p:nvPr/>
        </p:nvSpPr>
        <p:spPr>
          <a:xfrm>
            <a:off x="6583680" y="1581912"/>
            <a:ext cx="365760" cy="228600"/>
          </a:xfrm>
          <a:prstGeom prst="rightArrow">
            <a:avLst/>
          </a:prstGeom>
          <a:solidFill>
            <a:srgbClr val="00D4FF"/>
          </a:solidFill>
          <a:ln w="12700">
            <a:solidFill>
              <a:srgbClr val="00D4FF"/>
            </a:solidFill>
            <a:prstDash val="solid"/>
          </a:ln>
        </p:spPr>
      </p:sp>
      <p:sp>
        <p:nvSpPr>
          <p:cNvPr id="20" name="Shape 14"/>
          <p:cNvSpPr/>
          <p:nvPr/>
        </p:nvSpPr>
        <p:spPr>
          <a:xfrm>
            <a:off x="7040880" y="1234440"/>
            <a:ext cx="1645920" cy="914400"/>
          </a:xfrm>
          <a:prstGeom prst="roundRect">
            <a:avLst>
              <a:gd name="adj" fmla="val 8000"/>
            </a:avLst>
          </a:prstGeom>
          <a:solidFill>
            <a:srgbClr val="111C33"/>
          </a:solidFill>
          <a:ln w="12700">
            <a:solidFill>
              <a:srgbClr val="1F3157"/>
            </a:solidFill>
            <a:prstDash val="solid"/>
          </a:ln>
        </p:spPr>
      </p:sp>
      <p:sp>
        <p:nvSpPr>
          <p:cNvPr id="21" name="Shape 15"/>
          <p:cNvSpPr/>
          <p:nvPr/>
        </p:nvSpPr>
        <p:spPr>
          <a:xfrm>
            <a:off x="7128662" y="1413662"/>
            <a:ext cx="555955" cy="555955"/>
          </a:xfrm>
          <a:prstGeom prst="ellipse">
            <a:avLst/>
          </a:prstGeom>
          <a:solidFill>
            <a:srgbClr val="EF4444">
              <a:alpha val="15000"/>
            </a:srgbClr>
          </a:solidFill>
          <a:ln w="9525">
            <a:solidFill>
              <a:srgbClr val="EF4444">
                <a:alpha val="50000"/>
              </a:srgbClr>
            </a:solidFill>
            <a:prstDash val="solid"/>
          </a:ln>
        </p:spPr>
      </p:sp>
      <p:pic>
        <p:nvPicPr>
          <p:cNvPr id="22" name="Image 3" descr="preencoded.png">    </p:cNvPr>
          <p:cNvPicPr>
            <a:picLocks noChangeAspect="1"/>
          </p:cNvPicPr>
          <p:nvPr/>
        </p:nvPicPr>
        <p:blipFill>
          <a:blip r:embed="rId4"/>
          <a:stretch>
            <a:fillRect/>
          </a:stretch>
        </p:blipFill>
        <p:spPr>
          <a:xfrm>
            <a:off x="7260336" y="1545336"/>
            <a:ext cx="292608" cy="292608"/>
          </a:xfrm>
          <a:prstGeom prst="rect">
            <a:avLst/>
          </a:prstGeom>
        </p:spPr>
      </p:pic>
      <p:sp>
        <p:nvSpPr>
          <p:cNvPr id="23" name="Text 16"/>
          <p:cNvSpPr txBox="1"/>
          <p:nvPr/>
        </p:nvSpPr>
        <p:spPr>
          <a:xfrm>
            <a:off x="7772400" y="1371600"/>
            <a:ext cx="868680" cy="6400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Potential Data Theft</a:t>
            </a:r>
            <a:endParaRPr lang="en-US" sz="1200" dirty="0"/>
          </a:p>
        </p:txBody>
      </p:sp>
      <p:sp>
        <p:nvSpPr>
          <p:cNvPr id="24" name="Shape 17"/>
          <p:cNvSpPr/>
          <p:nvPr/>
        </p:nvSpPr>
        <p:spPr>
          <a:xfrm>
            <a:off x="457200" y="2331720"/>
            <a:ext cx="8229600" cy="731520"/>
          </a:xfrm>
          <a:prstGeom prst="roundRect">
            <a:avLst>
              <a:gd name="adj" fmla="val 10000"/>
            </a:avLst>
          </a:prstGeom>
          <a:solidFill>
            <a:srgbClr val="111C33"/>
          </a:solidFill>
          <a:ln w="12700">
            <a:solidFill>
              <a:srgbClr val="1F3157"/>
            </a:solidFill>
            <a:prstDash val="solid"/>
          </a:ln>
        </p:spPr>
      </p:sp>
      <p:sp>
        <p:nvSpPr>
          <p:cNvPr id="25" name="Text 18"/>
          <p:cNvSpPr txBox="1"/>
          <p:nvPr/>
        </p:nvSpPr>
        <p:spPr>
          <a:xfrm>
            <a:off x="640080" y="2331720"/>
            <a:ext cx="7863840" cy="7315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Phishing is a cyber attack in which an attacker pretends to be a trusted person or organization to trick someone into revealing information or taking an unsafe action.</a:t>
            </a:r>
            <a:endParaRPr lang="en-US" sz="1400" dirty="0"/>
          </a:p>
        </p:txBody>
      </p:sp>
      <p:sp>
        <p:nvSpPr>
          <p:cNvPr id="26" name="Shape 19"/>
          <p:cNvSpPr/>
          <p:nvPr/>
        </p:nvSpPr>
        <p:spPr>
          <a:xfrm>
            <a:off x="457200" y="3246120"/>
            <a:ext cx="2651760" cy="1417320"/>
          </a:xfrm>
          <a:prstGeom prst="roundRect">
            <a:avLst>
              <a:gd name="adj" fmla="val 5161"/>
            </a:avLst>
          </a:prstGeom>
          <a:solidFill>
            <a:srgbClr val="111C33"/>
          </a:solidFill>
          <a:ln w="12700">
            <a:solidFill>
              <a:srgbClr val="1F3157"/>
            </a:solidFill>
            <a:prstDash val="solid"/>
          </a:ln>
        </p:spPr>
      </p:sp>
      <p:sp>
        <p:nvSpPr>
          <p:cNvPr id="27" name="Text 20"/>
          <p:cNvSpPr txBox="1"/>
          <p:nvPr/>
        </p:nvSpPr>
        <p:spPr>
          <a:xfrm>
            <a:off x="640080" y="3364992"/>
            <a:ext cx="2286000" cy="274320"/>
          </a:xfrm>
          <a:prstGeom prst="rect">
            <a:avLst/>
          </a:prstGeom>
          <a:noFill/>
          <a:ln/>
        </p:spPr>
        <p:txBody>
          <a:bodyPr wrap="square" lIns="0" tIns="0" rIns="0" bIns="0" rtlCol="0" anchor="t"/>
          <a:lstStyle/>
          <a:p>
            <a:pPr indent="0" marL="0">
              <a:buNone/>
            </a:pPr>
            <a:r>
              <a:rPr lang="en-US" sz="1300" b="1" dirty="0">
                <a:solidFill>
                  <a:srgbClr val="00D4FF"/>
                </a:solidFill>
                <a:latin typeface="Calibri" pitchFamily="34" charset="0"/>
                <a:ea typeface="Calibri" pitchFamily="34" charset="-122"/>
                <a:cs typeface="Calibri" pitchFamily="34" charset="-120"/>
              </a:rPr>
              <a:t>Why attackers use it</a:t>
            </a:r>
            <a:endParaRPr lang="en-US" sz="1300" dirty="0"/>
          </a:p>
        </p:txBody>
      </p:sp>
      <p:sp>
        <p:nvSpPr>
          <p:cNvPr id="28" name="Text 21"/>
          <p:cNvSpPr txBox="1"/>
          <p:nvPr/>
        </p:nvSpPr>
        <p:spPr>
          <a:xfrm>
            <a:off x="640080" y="3675888"/>
            <a:ext cx="22860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Financial gain, account access, identity theft, and a way into larger networks. People are often easier to trick than systems.</a:t>
            </a:r>
            <a:endParaRPr lang="en-US" sz="1200" dirty="0"/>
          </a:p>
        </p:txBody>
      </p:sp>
      <p:sp>
        <p:nvSpPr>
          <p:cNvPr id="29" name="Shape 22"/>
          <p:cNvSpPr/>
          <p:nvPr/>
        </p:nvSpPr>
        <p:spPr>
          <a:xfrm>
            <a:off x="3246120" y="3246120"/>
            <a:ext cx="2651760" cy="1417320"/>
          </a:xfrm>
          <a:prstGeom prst="roundRect">
            <a:avLst>
              <a:gd name="adj" fmla="val 5161"/>
            </a:avLst>
          </a:prstGeom>
          <a:solidFill>
            <a:srgbClr val="111C33"/>
          </a:solidFill>
          <a:ln w="12700">
            <a:solidFill>
              <a:srgbClr val="1F3157"/>
            </a:solidFill>
            <a:prstDash val="solid"/>
          </a:ln>
        </p:spPr>
      </p:sp>
      <p:sp>
        <p:nvSpPr>
          <p:cNvPr id="30" name="Text 23"/>
          <p:cNvSpPr txBox="1"/>
          <p:nvPr/>
        </p:nvSpPr>
        <p:spPr>
          <a:xfrm>
            <a:off x="3429000" y="3364992"/>
            <a:ext cx="2286000" cy="274320"/>
          </a:xfrm>
          <a:prstGeom prst="rect">
            <a:avLst/>
          </a:prstGeom>
          <a:noFill/>
          <a:ln/>
        </p:spPr>
        <p:txBody>
          <a:bodyPr wrap="square" lIns="0" tIns="0" rIns="0" bIns="0" rtlCol="0" anchor="t"/>
          <a:lstStyle/>
          <a:p>
            <a:pPr indent="0" marL="0">
              <a:buNone/>
            </a:pPr>
            <a:r>
              <a:rPr lang="en-US" sz="1300" b="1" dirty="0">
                <a:solidFill>
                  <a:srgbClr val="00D4FF"/>
                </a:solidFill>
                <a:latin typeface="Calibri" pitchFamily="34" charset="0"/>
                <a:ea typeface="Calibri" pitchFamily="34" charset="-122"/>
                <a:cs typeface="Calibri" pitchFamily="34" charset="-120"/>
              </a:rPr>
              <a:t>Commonly targeted data</a:t>
            </a:r>
            <a:endParaRPr lang="en-US" sz="1300" dirty="0"/>
          </a:p>
        </p:txBody>
      </p:sp>
      <p:sp>
        <p:nvSpPr>
          <p:cNvPr id="31" name="Text 24"/>
          <p:cNvSpPr txBox="1"/>
          <p:nvPr/>
        </p:nvSpPr>
        <p:spPr>
          <a:xfrm>
            <a:off x="3429000" y="3675888"/>
            <a:ext cx="22860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Passwords, one-time passwords (OTPs), banking and card details, personal IDs, and login sessions.</a:t>
            </a:r>
            <a:endParaRPr lang="en-US" sz="1200" dirty="0"/>
          </a:p>
        </p:txBody>
      </p:sp>
      <p:sp>
        <p:nvSpPr>
          <p:cNvPr id="32" name="Shape 25"/>
          <p:cNvSpPr/>
          <p:nvPr/>
        </p:nvSpPr>
        <p:spPr>
          <a:xfrm>
            <a:off x="6035040" y="3246120"/>
            <a:ext cx="2651760" cy="1417320"/>
          </a:xfrm>
          <a:prstGeom prst="roundRect">
            <a:avLst>
              <a:gd name="adj" fmla="val 5161"/>
            </a:avLst>
          </a:prstGeom>
          <a:solidFill>
            <a:srgbClr val="111C33"/>
          </a:solidFill>
          <a:ln w="12700">
            <a:solidFill>
              <a:srgbClr val="1F3157"/>
            </a:solidFill>
            <a:prstDash val="solid"/>
          </a:ln>
        </p:spPr>
      </p:sp>
      <p:sp>
        <p:nvSpPr>
          <p:cNvPr id="33" name="Text 26"/>
          <p:cNvSpPr txBox="1"/>
          <p:nvPr/>
        </p:nvSpPr>
        <p:spPr>
          <a:xfrm>
            <a:off x="6217920" y="3364992"/>
            <a:ext cx="2286000" cy="274320"/>
          </a:xfrm>
          <a:prstGeom prst="rect">
            <a:avLst/>
          </a:prstGeom>
          <a:noFill/>
          <a:ln/>
        </p:spPr>
        <p:txBody>
          <a:bodyPr wrap="square" lIns="0" tIns="0" rIns="0" bIns="0" rtlCol="0" anchor="t"/>
          <a:lstStyle/>
          <a:p>
            <a:pPr indent="0" marL="0">
              <a:buNone/>
            </a:pPr>
            <a:r>
              <a:rPr lang="en-US" sz="1300" b="1" dirty="0">
                <a:solidFill>
                  <a:srgbClr val="00D4FF"/>
                </a:solidFill>
                <a:latin typeface="Calibri" pitchFamily="34" charset="0"/>
                <a:ea typeface="Calibri" pitchFamily="34" charset="-122"/>
                <a:cs typeface="Calibri" pitchFamily="34" charset="-120"/>
              </a:rPr>
              <a:t>Channels used</a:t>
            </a:r>
            <a:endParaRPr lang="en-US" sz="1300" dirty="0"/>
          </a:p>
        </p:txBody>
      </p:sp>
      <p:sp>
        <p:nvSpPr>
          <p:cNvPr id="34" name="Text 27"/>
          <p:cNvSpPr txBox="1"/>
          <p:nvPr/>
        </p:nvSpPr>
        <p:spPr>
          <a:xfrm>
            <a:off x="6217920" y="3675888"/>
            <a:ext cx="2286000" cy="9144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Email, SMS, phone calls, social media, messaging apps, fake websites, and QR codes.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Phishing Works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Five stages from impersonation to compromise</a:t>
            </a:r>
            <a:endParaRPr lang="en-US" sz="1300" dirty="0"/>
          </a:p>
        </p:txBody>
      </p:sp>
      <p:sp>
        <p:nvSpPr>
          <p:cNvPr id="5" name="Shape 2"/>
          <p:cNvSpPr/>
          <p:nvPr/>
        </p:nvSpPr>
        <p:spPr>
          <a:xfrm>
            <a:off x="594360" y="1691640"/>
            <a:ext cx="7955280" cy="0"/>
          </a:xfrm>
          <a:prstGeom prst="line">
            <a:avLst/>
          </a:prstGeom>
          <a:noFill/>
          <a:ln w="25400">
            <a:solidFill>
              <a:srgbClr val="2563EB"/>
            </a:solidFill>
            <a:prstDash val="solid"/>
          </a:ln>
        </p:spPr>
      </p:sp>
      <p:sp>
        <p:nvSpPr>
          <p:cNvPr id="6" name="Shape 3"/>
          <p:cNvSpPr/>
          <p:nvPr/>
        </p:nvSpPr>
        <p:spPr>
          <a:xfrm>
            <a:off x="457200" y="1463040"/>
            <a:ext cx="1554480" cy="3108960"/>
          </a:xfrm>
          <a:prstGeom prst="roundRect">
            <a:avLst>
              <a:gd name="adj" fmla="val 4706"/>
            </a:avLst>
          </a:prstGeom>
          <a:solidFill>
            <a:srgbClr val="111C33"/>
          </a:solidFill>
          <a:ln w="12700">
            <a:solidFill>
              <a:srgbClr val="1F3157"/>
            </a:solidFill>
            <a:prstDash val="solid"/>
          </a:ln>
        </p:spPr>
      </p:sp>
      <p:sp>
        <p:nvSpPr>
          <p:cNvPr id="7" name="Shape 4"/>
          <p:cNvSpPr/>
          <p:nvPr/>
        </p:nvSpPr>
        <p:spPr>
          <a:xfrm>
            <a:off x="640080" y="1508760"/>
            <a:ext cx="365760" cy="365760"/>
          </a:xfrm>
          <a:prstGeom prst="ellipse">
            <a:avLst/>
          </a:prstGeom>
          <a:solidFill>
            <a:srgbClr val="00D4FF"/>
          </a:solidFill>
          <a:ln w="12700">
            <a:solidFill>
              <a:srgbClr val="00D4FF"/>
            </a:solidFill>
            <a:prstDash val="solid"/>
          </a:ln>
        </p:spPr>
      </p:sp>
      <p:sp>
        <p:nvSpPr>
          <p:cNvPr id="8" name="Text 5"/>
          <p:cNvSpPr txBox="1"/>
          <p:nvPr/>
        </p:nvSpPr>
        <p:spPr>
          <a:xfrm>
            <a:off x="640080" y="1508760"/>
            <a:ext cx="365760" cy="365760"/>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1</a:t>
            </a:r>
            <a:endParaRPr lang="en-US" sz="1200" dirty="0"/>
          </a:p>
        </p:txBody>
      </p:sp>
      <p:pic>
        <p:nvPicPr>
          <p:cNvPr id="9" name="Image 0" descr="preencoded.png">    </p:cNvPr>
          <p:cNvPicPr>
            <a:picLocks noChangeAspect="1"/>
          </p:cNvPicPr>
          <p:nvPr/>
        </p:nvPicPr>
        <p:blipFill>
          <a:blip r:embed="rId1"/>
          <a:stretch>
            <a:fillRect/>
          </a:stretch>
        </p:blipFill>
        <p:spPr>
          <a:xfrm>
            <a:off x="1426464" y="1563624"/>
            <a:ext cx="256032" cy="256032"/>
          </a:xfrm>
          <a:prstGeom prst="rect">
            <a:avLst/>
          </a:prstGeom>
        </p:spPr>
      </p:pic>
      <p:sp>
        <p:nvSpPr>
          <p:cNvPr id="10" name="Text 6"/>
          <p:cNvSpPr txBox="1"/>
          <p:nvPr/>
        </p:nvSpPr>
        <p:spPr>
          <a:xfrm>
            <a:off x="594360" y="2240280"/>
            <a:ext cx="1280160" cy="6858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Impersonation</a:t>
            </a:r>
            <a:endParaRPr lang="en-US" sz="1300" dirty="0"/>
          </a:p>
        </p:txBody>
      </p:sp>
      <p:sp>
        <p:nvSpPr>
          <p:cNvPr id="11" name="Text 7"/>
          <p:cNvSpPr txBox="1"/>
          <p:nvPr/>
        </p:nvSpPr>
        <p:spPr>
          <a:xfrm>
            <a:off x="594360" y="3017520"/>
            <a:ext cx="1280160" cy="14630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The attacker poses as a bank, brand, or colleague.</a:t>
            </a:r>
            <a:endParaRPr lang="en-US" sz="1200" dirty="0"/>
          </a:p>
        </p:txBody>
      </p:sp>
      <p:sp>
        <p:nvSpPr>
          <p:cNvPr id="12" name="Shape 8"/>
          <p:cNvSpPr/>
          <p:nvPr/>
        </p:nvSpPr>
        <p:spPr>
          <a:xfrm>
            <a:off x="2139696" y="1463040"/>
            <a:ext cx="1554480" cy="3108960"/>
          </a:xfrm>
          <a:prstGeom prst="roundRect">
            <a:avLst>
              <a:gd name="adj" fmla="val 4706"/>
            </a:avLst>
          </a:prstGeom>
          <a:solidFill>
            <a:srgbClr val="111C33"/>
          </a:solidFill>
          <a:ln w="12700">
            <a:solidFill>
              <a:srgbClr val="1F3157"/>
            </a:solidFill>
            <a:prstDash val="solid"/>
          </a:ln>
        </p:spPr>
      </p:sp>
      <p:sp>
        <p:nvSpPr>
          <p:cNvPr id="13" name="Shape 9"/>
          <p:cNvSpPr/>
          <p:nvPr/>
        </p:nvSpPr>
        <p:spPr>
          <a:xfrm>
            <a:off x="2322576" y="1508760"/>
            <a:ext cx="365760" cy="365760"/>
          </a:xfrm>
          <a:prstGeom prst="ellipse">
            <a:avLst/>
          </a:prstGeom>
          <a:solidFill>
            <a:srgbClr val="00D4FF"/>
          </a:solidFill>
          <a:ln w="12700">
            <a:solidFill>
              <a:srgbClr val="00D4FF"/>
            </a:solidFill>
            <a:prstDash val="solid"/>
          </a:ln>
        </p:spPr>
      </p:sp>
      <p:sp>
        <p:nvSpPr>
          <p:cNvPr id="14" name="Text 10"/>
          <p:cNvSpPr txBox="1"/>
          <p:nvPr/>
        </p:nvSpPr>
        <p:spPr>
          <a:xfrm>
            <a:off x="2322576" y="1508760"/>
            <a:ext cx="365760" cy="365760"/>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2</a:t>
            </a:r>
            <a:endParaRPr lang="en-US" sz="1200" dirty="0"/>
          </a:p>
        </p:txBody>
      </p:sp>
      <p:pic>
        <p:nvPicPr>
          <p:cNvPr id="15" name="Image 1" descr="preencoded.png">    </p:cNvPr>
          <p:cNvPicPr>
            <a:picLocks noChangeAspect="1"/>
          </p:cNvPicPr>
          <p:nvPr/>
        </p:nvPicPr>
        <p:blipFill>
          <a:blip r:embed="rId2"/>
          <a:stretch>
            <a:fillRect/>
          </a:stretch>
        </p:blipFill>
        <p:spPr>
          <a:xfrm>
            <a:off x="3108960" y="1563624"/>
            <a:ext cx="256032" cy="256032"/>
          </a:xfrm>
          <a:prstGeom prst="rect">
            <a:avLst/>
          </a:prstGeom>
        </p:spPr>
      </p:pic>
      <p:sp>
        <p:nvSpPr>
          <p:cNvPr id="16" name="Text 11"/>
          <p:cNvSpPr txBox="1"/>
          <p:nvPr/>
        </p:nvSpPr>
        <p:spPr>
          <a:xfrm>
            <a:off x="2276856" y="2240280"/>
            <a:ext cx="1280160" cy="6858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Deceptive Message</a:t>
            </a:r>
            <a:endParaRPr lang="en-US" sz="1300" dirty="0"/>
          </a:p>
        </p:txBody>
      </p:sp>
      <p:sp>
        <p:nvSpPr>
          <p:cNvPr id="17" name="Text 12"/>
          <p:cNvSpPr txBox="1"/>
          <p:nvPr/>
        </p:nvSpPr>
        <p:spPr>
          <a:xfrm>
            <a:off x="2276856" y="3017520"/>
            <a:ext cx="1280160" cy="14630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A convincing email, SMS, or call carries a link or request.</a:t>
            </a:r>
            <a:endParaRPr lang="en-US" sz="1200" dirty="0"/>
          </a:p>
        </p:txBody>
      </p:sp>
      <p:sp>
        <p:nvSpPr>
          <p:cNvPr id="18" name="Shape 13"/>
          <p:cNvSpPr/>
          <p:nvPr/>
        </p:nvSpPr>
        <p:spPr>
          <a:xfrm>
            <a:off x="3822192" y="1463040"/>
            <a:ext cx="1554480" cy="3108960"/>
          </a:xfrm>
          <a:prstGeom prst="roundRect">
            <a:avLst>
              <a:gd name="adj" fmla="val 4706"/>
            </a:avLst>
          </a:prstGeom>
          <a:solidFill>
            <a:srgbClr val="111C33"/>
          </a:solidFill>
          <a:ln w="12700">
            <a:solidFill>
              <a:srgbClr val="1F3157"/>
            </a:solidFill>
            <a:prstDash val="solid"/>
          </a:ln>
        </p:spPr>
      </p:sp>
      <p:sp>
        <p:nvSpPr>
          <p:cNvPr id="19" name="Shape 14"/>
          <p:cNvSpPr/>
          <p:nvPr/>
        </p:nvSpPr>
        <p:spPr>
          <a:xfrm>
            <a:off x="4005072" y="1508760"/>
            <a:ext cx="365760" cy="365760"/>
          </a:xfrm>
          <a:prstGeom prst="ellipse">
            <a:avLst/>
          </a:prstGeom>
          <a:solidFill>
            <a:srgbClr val="00D4FF"/>
          </a:solidFill>
          <a:ln w="12700">
            <a:solidFill>
              <a:srgbClr val="00D4FF"/>
            </a:solidFill>
            <a:prstDash val="solid"/>
          </a:ln>
        </p:spPr>
      </p:sp>
      <p:sp>
        <p:nvSpPr>
          <p:cNvPr id="20" name="Text 15"/>
          <p:cNvSpPr txBox="1"/>
          <p:nvPr/>
        </p:nvSpPr>
        <p:spPr>
          <a:xfrm>
            <a:off x="4005072" y="1508760"/>
            <a:ext cx="365760" cy="365760"/>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3</a:t>
            </a:r>
            <a:endParaRPr lang="en-US" sz="1200" dirty="0"/>
          </a:p>
        </p:txBody>
      </p:sp>
      <p:pic>
        <p:nvPicPr>
          <p:cNvPr id="21" name="Image 2" descr="preencoded.png">    </p:cNvPr>
          <p:cNvPicPr>
            <a:picLocks noChangeAspect="1"/>
          </p:cNvPicPr>
          <p:nvPr/>
        </p:nvPicPr>
        <p:blipFill>
          <a:blip r:embed="rId3"/>
          <a:stretch>
            <a:fillRect/>
          </a:stretch>
        </p:blipFill>
        <p:spPr>
          <a:xfrm>
            <a:off x="4791456" y="1563624"/>
            <a:ext cx="256032" cy="256032"/>
          </a:xfrm>
          <a:prstGeom prst="rect">
            <a:avLst/>
          </a:prstGeom>
        </p:spPr>
      </p:pic>
      <p:sp>
        <p:nvSpPr>
          <p:cNvPr id="22" name="Text 16"/>
          <p:cNvSpPr txBox="1"/>
          <p:nvPr/>
        </p:nvSpPr>
        <p:spPr>
          <a:xfrm>
            <a:off x="3959352" y="2240280"/>
            <a:ext cx="1280160" cy="6858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Urgency and Manipulation</a:t>
            </a:r>
            <a:endParaRPr lang="en-US" sz="1300" dirty="0"/>
          </a:p>
        </p:txBody>
      </p:sp>
      <p:sp>
        <p:nvSpPr>
          <p:cNvPr id="23" name="Text 17"/>
          <p:cNvSpPr txBox="1"/>
          <p:nvPr/>
        </p:nvSpPr>
        <p:spPr>
          <a:xfrm>
            <a:off x="3959352" y="3017520"/>
            <a:ext cx="1280160" cy="14630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Pressure and emotion push you to act without thinking.</a:t>
            </a:r>
            <a:endParaRPr lang="en-US" sz="1200" dirty="0"/>
          </a:p>
        </p:txBody>
      </p:sp>
      <p:sp>
        <p:nvSpPr>
          <p:cNvPr id="24" name="Shape 18"/>
          <p:cNvSpPr/>
          <p:nvPr/>
        </p:nvSpPr>
        <p:spPr>
          <a:xfrm>
            <a:off x="5504688" y="1463040"/>
            <a:ext cx="1554480" cy="3108960"/>
          </a:xfrm>
          <a:prstGeom prst="roundRect">
            <a:avLst>
              <a:gd name="adj" fmla="val 4706"/>
            </a:avLst>
          </a:prstGeom>
          <a:solidFill>
            <a:srgbClr val="111C33"/>
          </a:solidFill>
          <a:ln w="12700">
            <a:solidFill>
              <a:srgbClr val="1F3157"/>
            </a:solidFill>
            <a:prstDash val="solid"/>
          </a:ln>
        </p:spPr>
      </p:sp>
      <p:sp>
        <p:nvSpPr>
          <p:cNvPr id="25" name="Shape 19"/>
          <p:cNvSpPr/>
          <p:nvPr/>
        </p:nvSpPr>
        <p:spPr>
          <a:xfrm>
            <a:off x="5687568" y="1508760"/>
            <a:ext cx="365760" cy="365760"/>
          </a:xfrm>
          <a:prstGeom prst="ellipse">
            <a:avLst/>
          </a:prstGeom>
          <a:solidFill>
            <a:srgbClr val="00D4FF"/>
          </a:solidFill>
          <a:ln w="12700">
            <a:solidFill>
              <a:srgbClr val="00D4FF"/>
            </a:solidFill>
            <a:prstDash val="solid"/>
          </a:ln>
        </p:spPr>
      </p:sp>
      <p:sp>
        <p:nvSpPr>
          <p:cNvPr id="26" name="Text 20"/>
          <p:cNvSpPr txBox="1"/>
          <p:nvPr/>
        </p:nvSpPr>
        <p:spPr>
          <a:xfrm>
            <a:off x="5687568" y="1508760"/>
            <a:ext cx="365760" cy="365760"/>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4</a:t>
            </a:r>
            <a:endParaRPr lang="en-US" sz="1200" dirty="0"/>
          </a:p>
        </p:txBody>
      </p:sp>
      <p:pic>
        <p:nvPicPr>
          <p:cNvPr id="27" name="Image 3" descr="preencoded.png">    </p:cNvPr>
          <p:cNvPicPr>
            <a:picLocks noChangeAspect="1"/>
          </p:cNvPicPr>
          <p:nvPr/>
        </p:nvPicPr>
        <p:blipFill>
          <a:blip r:embed="rId4"/>
          <a:stretch>
            <a:fillRect/>
          </a:stretch>
        </p:blipFill>
        <p:spPr>
          <a:xfrm>
            <a:off x="6473952" y="1563624"/>
            <a:ext cx="256032" cy="256032"/>
          </a:xfrm>
          <a:prstGeom prst="rect">
            <a:avLst/>
          </a:prstGeom>
        </p:spPr>
      </p:pic>
      <p:sp>
        <p:nvSpPr>
          <p:cNvPr id="28" name="Text 21"/>
          <p:cNvSpPr txBox="1"/>
          <p:nvPr/>
        </p:nvSpPr>
        <p:spPr>
          <a:xfrm>
            <a:off x="5641848" y="2240280"/>
            <a:ext cx="1280160" cy="6858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Unsafe User Action</a:t>
            </a:r>
            <a:endParaRPr lang="en-US" sz="1300" dirty="0"/>
          </a:p>
        </p:txBody>
      </p:sp>
      <p:sp>
        <p:nvSpPr>
          <p:cNvPr id="29" name="Text 22"/>
          <p:cNvSpPr txBox="1"/>
          <p:nvPr/>
        </p:nvSpPr>
        <p:spPr>
          <a:xfrm>
            <a:off x="5641848" y="3017520"/>
            <a:ext cx="1280160" cy="14630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You click a link, open a file, or enter your details.</a:t>
            </a:r>
            <a:endParaRPr lang="en-US" sz="1200" dirty="0"/>
          </a:p>
        </p:txBody>
      </p:sp>
      <p:sp>
        <p:nvSpPr>
          <p:cNvPr id="30" name="Shape 23"/>
          <p:cNvSpPr/>
          <p:nvPr/>
        </p:nvSpPr>
        <p:spPr>
          <a:xfrm>
            <a:off x="7187184" y="1463040"/>
            <a:ext cx="1554480" cy="3108960"/>
          </a:xfrm>
          <a:prstGeom prst="roundRect">
            <a:avLst>
              <a:gd name="adj" fmla="val 4706"/>
            </a:avLst>
          </a:prstGeom>
          <a:solidFill>
            <a:srgbClr val="111C33"/>
          </a:solidFill>
          <a:ln w="12700">
            <a:solidFill>
              <a:srgbClr val="1F3157"/>
            </a:solidFill>
            <a:prstDash val="solid"/>
          </a:ln>
        </p:spPr>
      </p:sp>
      <p:sp>
        <p:nvSpPr>
          <p:cNvPr id="31" name="Shape 24"/>
          <p:cNvSpPr/>
          <p:nvPr/>
        </p:nvSpPr>
        <p:spPr>
          <a:xfrm>
            <a:off x="7370064" y="1508760"/>
            <a:ext cx="365760" cy="365760"/>
          </a:xfrm>
          <a:prstGeom prst="ellipse">
            <a:avLst/>
          </a:prstGeom>
          <a:solidFill>
            <a:srgbClr val="EF4444"/>
          </a:solidFill>
          <a:ln w="12700">
            <a:solidFill>
              <a:srgbClr val="EF4444"/>
            </a:solidFill>
            <a:prstDash val="solid"/>
          </a:ln>
        </p:spPr>
      </p:sp>
      <p:sp>
        <p:nvSpPr>
          <p:cNvPr id="32" name="Text 25"/>
          <p:cNvSpPr txBox="1"/>
          <p:nvPr/>
        </p:nvSpPr>
        <p:spPr>
          <a:xfrm>
            <a:off x="7370064" y="15087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pic>
        <p:nvPicPr>
          <p:cNvPr id="33" name="Image 4" descr="preencoded.png">    </p:cNvPr>
          <p:cNvPicPr>
            <a:picLocks noChangeAspect="1"/>
          </p:cNvPicPr>
          <p:nvPr/>
        </p:nvPicPr>
        <p:blipFill>
          <a:blip r:embed="rId5"/>
          <a:stretch>
            <a:fillRect/>
          </a:stretch>
        </p:blipFill>
        <p:spPr>
          <a:xfrm>
            <a:off x="8156448" y="1563624"/>
            <a:ext cx="256032" cy="256032"/>
          </a:xfrm>
          <a:prstGeom prst="rect">
            <a:avLst/>
          </a:prstGeom>
        </p:spPr>
      </p:pic>
      <p:sp>
        <p:nvSpPr>
          <p:cNvPr id="34" name="Text 26"/>
          <p:cNvSpPr txBox="1"/>
          <p:nvPr/>
        </p:nvSpPr>
        <p:spPr>
          <a:xfrm>
            <a:off x="7324344" y="2240280"/>
            <a:ext cx="1280160" cy="685800"/>
          </a:xfrm>
          <a:prstGeom prst="rect">
            <a:avLst/>
          </a:prstGeom>
          <a:noFill/>
          <a:ln/>
        </p:spPr>
        <p:txBody>
          <a:bodyPr wrap="square" lIns="0" tIns="0" rIns="0" bIns="0" rtlCol="0" anchor="t"/>
          <a:lstStyle/>
          <a:p>
            <a:pPr indent="0" marL="0">
              <a:buNone/>
            </a:pPr>
            <a:r>
              <a:rPr lang="en-US" sz="1300" b="1" dirty="0">
                <a:solidFill>
                  <a:srgbClr val="FCA5A5"/>
                </a:solidFill>
                <a:latin typeface="Calibri" pitchFamily="34" charset="0"/>
                <a:ea typeface="Calibri" pitchFamily="34" charset="-122"/>
                <a:cs typeface="Calibri" pitchFamily="34" charset="-120"/>
              </a:rPr>
              <a:t>Potential Account Compromise</a:t>
            </a:r>
            <a:endParaRPr lang="en-US" sz="1300" dirty="0"/>
          </a:p>
        </p:txBody>
      </p:sp>
      <p:sp>
        <p:nvSpPr>
          <p:cNvPr id="35" name="Text 27"/>
          <p:cNvSpPr txBox="1"/>
          <p:nvPr/>
        </p:nvSpPr>
        <p:spPr>
          <a:xfrm>
            <a:off x="7324344" y="3017520"/>
            <a:ext cx="1280160" cy="146304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Stolen credentials may lead to account takeover or data loss.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Types of Phishing</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Same goal, different delivery methods</a:t>
            </a:r>
            <a:endParaRPr lang="en-US" sz="1300" dirty="0"/>
          </a:p>
        </p:txBody>
      </p:sp>
      <p:sp>
        <p:nvSpPr>
          <p:cNvPr id="5" name="Shape 2"/>
          <p:cNvSpPr/>
          <p:nvPr/>
        </p:nvSpPr>
        <p:spPr>
          <a:xfrm>
            <a:off x="457200" y="1234440"/>
            <a:ext cx="2651760" cy="1554480"/>
          </a:xfrm>
          <a:prstGeom prst="roundRect">
            <a:avLst>
              <a:gd name="adj" fmla="val 4706"/>
            </a:avLst>
          </a:prstGeom>
          <a:solidFill>
            <a:srgbClr val="111C33"/>
          </a:solidFill>
          <a:ln w="12700">
            <a:solidFill>
              <a:srgbClr val="1F3157"/>
            </a:solidFill>
            <a:prstDash val="solid"/>
          </a:ln>
        </p:spPr>
      </p:sp>
      <p:sp>
        <p:nvSpPr>
          <p:cNvPr id="6" name="Shape 3"/>
          <p:cNvSpPr/>
          <p:nvPr/>
        </p:nvSpPr>
        <p:spPr>
          <a:xfrm>
            <a:off x="619049" y="1396289"/>
            <a:ext cx="590702" cy="590702"/>
          </a:xfrm>
          <a:prstGeom prst="ellipse">
            <a:avLst/>
          </a:prstGeom>
          <a:solidFill>
            <a:srgbClr val="00D4FF">
              <a:alpha val="15000"/>
            </a:srgbClr>
          </a:solidFill>
          <a:ln w="9525">
            <a:solidFill>
              <a:srgbClr val="00D4FF">
                <a:alpha val="50000"/>
              </a:srgbClr>
            </a:solidFill>
            <a:prstDash val="solid"/>
          </a:ln>
        </p:spPr>
      </p:sp>
      <p:pic>
        <p:nvPicPr>
          <p:cNvPr id="7" name="Image 0" descr="preencoded.png">    </p:cNvPr>
          <p:cNvPicPr>
            <a:picLocks noChangeAspect="1"/>
          </p:cNvPicPr>
          <p:nvPr/>
        </p:nvPicPr>
        <p:blipFill>
          <a:blip r:embed="rId1"/>
          <a:stretch>
            <a:fillRect/>
          </a:stretch>
        </p:blipFill>
        <p:spPr>
          <a:xfrm>
            <a:off x="758952" y="1536192"/>
            <a:ext cx="310896" cy="310896"/>
          </a:xfrm>
          <a:prstGeom prst="rect">
            <a:avLst/>
          </a:prstGeom>
        </p:spPr>
      </p:pic>
      <p:sp>
        <p:nvSpPr>
          <p:cNvPr id="8" name="Text 4"/>
          <p:cNvSpPr txBox="1"/>
          <p:nvPr/>
        </p:nvSpPr>
        <p:spPr>
          <a:xfrm>
            <a:off x="1417320" y="150876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Email Phishing</a:t>
            </a:r>
            <a:endParaRPr lang="en-US" sz="1400" dirty="0"/>
          </a:p>
        </p:txBody>
      </p:sp>
      <p:sp>
        <p:nvSpPr>
          <p:cNvPr id="9" name="Text 5"/>
          <p:cNvSpPr txBox="1"/>
          <p:nvPr/>
        </p:nvSpPr>
        <p:spPr>
          <a:xfrm>
            <a:off x="640080" y="210312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Mass fake emails sent to many people, posing as a trusted brand.</a:t>
            </a:r>
            <a:endParaRPr lang="en-US" sz="1200" dirty="0"/>
          </a:p>
        </p:txBody>
      </p:sp>
      <p:sp>
        <p:nvSpPr>
          <p:cNvPr id="10" name="Shape 6"/>
          <p:cNvSpPr/>
          <p:nvPr/>
        </p:nvSpPr>
        <p:spPr>
          <a:xfrm>
            <a:off x="3246120" y="1234440"/>
            <a:ext cx="2651760" cy="1554480"/>
          </a:xfrm>
          <a:prstGeom prst="roundRect">
            <a:avLst>
              <a:gd name="adj" fmla="val 4706"/>
            </a:avLst>
          </a:prstGeom>
          <a:solidFill>
            <a:srgbClr val="111C33"/>
          </a:solidFill>
          <a:ln w="12700">
            <a:solidFill>
              <a:srgbClr val="1F3157"/>
            </a:solidFill>
            <a:prstDash val="solid"/>
          </a:ln>
        </p:spPr>
      </p:sp>
      <p:sp>
        <p:nvSpPr>
          <p:cNvPr id="11" name="Shape 7"/>
          <p:cNvSpPr/>
          <p:nvPr/>
        </p:nvSpPr>
        <p:spPr>
          <a:xfrm>
            <a:off x="3407969" y="1396289"/>
            <a:ext cx="590702" cy="590702"/>
          </a:xfrm>
          <a:prstGeom prst="ellipse">
            <a:avLst/>
          </a:prstGeom>
          <a:solidFill>
            <a:srgbClr val="00D4FF">
              <a:alpha val="15000"/>
            </a:srgbClr>
          </a:solidFill>
          <a:ln w="9525">
            <a:solidFill>
              <a:srgbClr val="00D4FF">
                <a:alpha val="50000"/>
              </a:srgbClr>
            </a:solidFill>
            <a:prstDash val="solid"/>
          </a:ln>
        </p:spPr>
      </p:sp>
      <p:pic>
        <p:nvPicPr>
          <p:cNvPr id="12" name="Image 1" descr="preencoded.png">    </p:cNvPr>
          <p:cNvPicPr>
            <a:picLocks noChangeAspect="1"/>
          </p:cNvPicPr>
          <p:nvPr/>
        </p:nvPicPr>
        <p:blipFill>
          <a:blip r:embed="rId2"/>
          <a:stretch>
            <a:fillRect/>
          </a:stretch>
        </p:blipFill>
        <p:spPr>
          <a:xfrm>
            <a:off x="3547872" y="1536192"/>
            <a:ext cx="310896" cy="310896"/>
          </a:xfrm>
          <a:prstGeom prst="rect">
            <a:avLst/>
          </a:prstGeom>
        </p:spPr>
      </p:pic>
      <p:sp>
        <p:nvSpPr>
          <p:cNvPr id="13" name="Text 8"/>
          <p:cNvSpPr txBox="1"/>
          <p:nvPr/>
        </p:nvSpPr>
        <p:spPr>
          <a:xfrm>
            <a:off x="4206240" y="150876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Spear Phishing</a:t>
            </a:r>
            <a:endParaRPr lang="en-US" sz="1400" dirty="0"/>
          </a:p>
        </p:txBody>
      </p:sp>
      <p:sp>
        <p:nvSpPr>
          <p:cNvPr id="14" name="Text 9"/>
          <p:cNvSpPr txBox="1"/>
          <p:nvPr/>
        </p:nvSpPr>
        <p:spPr>
          <a:xfrm>
            <a:off x="3429000" y="210312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A message personalized for a specific person or organization.</a:t>
            </a:r>
            <a:endParaRPr lang="en-US" sz="1200" dirty="0"/>
          </a:p>
        </p:txBody>
      </p:sp>
      <p:sp>
        <p:nvSpPr>
          <p:cNvPr id="15" name="Shape 10"/>
          <p:cNvSpPr/>
          <p:nvPr/>
        </p:nvSpPr>
        <p:spPr>
          <a:xfrm>
            <a:off x="6035040" y="1234440"/>
            <a:ext cx="2651760" cy="1554480"/>
          </a:xfrm>
          <a:prstGeom prst="roundRect">
            <a:avLst>
              <a:gd name="adj" fmla="val 4706"/>
            </a:avLst>
          </a:prstGeom>
          <a:solidFill>
            <a:srgbClr val="111C33"/>
          </a:solidFill>
          <a:ln w="12700">
            <a:solidFill>
              <a:srgbClr val="1F3157"/>
            </a:solidFill>
            <a:prstDash val="solid"/>
          </a:ln>
        </p:spPr>
      </p:sp>
      <p:sp>
        <p:nvSpPr>
          <p:cNvPr id="16" name="Shape 11"/>
          <p:cNvSpPr/>
          <p:nvPr/>
        </p:nvSpPr>
        <p:spPr>
          <a:xfrm>
            <a:off x="6196889" y="1396289"/>
            <a:ext cx="590702" cy="590702"/>
          </a:xfrm>
          <a:prstGeom prst="ellipse">
            <a:avLst/>
          </a:prstGeom>
          <a:solidFill>
            <a:srgbClr val="00D4FF">
              <a:alpha val="15000"/>
            </a:srgbClr>
          </a:solidFill>
          <a:ln w="9525">
            <a:solidFill>
              <a:srgbClr val="00D4FF">
                <a:alpha val="50000"/>
              </a:srgbClr>
            </a:solidFill>
            <a:prstDash val="solid"/>
          </a:ln>
        </p:spPr>
      </p:sp>
      <p:pic>
        <p:nvPicPr>
          <p:cNvPr id="17" name="Image 2" descr="preencoded.png">    </p:cNvPr>
          <p:cNvPicPr>
            <a:picLocks noChangeAspect="1"/>
          </p:cNvPicPr>
          <p:nvPr/>
        </p:nvPicPr>
        <p:blipFill>
          <a:blip r:embed="rId3"/>
          <a:stretch>
            <a:fillRect/>
          </a:stretch>
        </p:blipFill>
        <p:spPr>
          <a:xfrm>
            <a:off x="6336792" y="1536192"/>
            <a:ext cx="310896" cy="310896"/>
          </a:xfrm>
          <a:prstGeom prst="rect">
            <a:avLst/>
          </a:prstGeom>
        </p:spPr>
      </p:pic>
      <p:sp>
        <p:nvSpPr>
          <p:cNvPr id="18" name="Text 12"/>
          <p:cNvSpPr txBox="1"/>
          <p:nvPr/>
        </p:nvSpPr>
        <p:spPr>
          <a:xfrm>
            <a:off x="6995160" y="150876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Smishing</a:t>
            </a:r>
            <a:endParaRPr lang="en-US" sz="1400" dirty="0"/>
          </a:p>
        </p:txBody>
      </p:sp>
      <p:sp>
        <p:nvSpPr>
          <p:cNvPr id="19" name="Text 13"/>
          <p:cNvSpPr txBox="1"/>
          <p:nvPr/>
        </p:nvSpPr>
        <p:spPr>
          <a:xfrm>
            <a:off x="6217920" y="210312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Phishing through SMS or text messages, often with a short link.</a:t>
            </a:r>
            <a:endParaRPr lang="en-US" sz="1200" dirty="0"/>
          </a:p>
        </p:txBody>
      </p:sp>
      <p:sp>
        <p:nvSpPr>
          <p:cNvPr id="20" name="Shape 14"/>
          <p:cNvSpPr/>
          <p:nvPr/>
        </p:nvSpPr>
        <p:spPr>
          <a:xfrm>
            <a:off x="457200" y="2926080"/>
            <a:ext cx="2651760" cy="1554480"/>
          </a:xfrm>
          <a:prstGeom prst="roundRect">
            <a:avLst>
              <a:gd name="adj" fmla="val 4706"/>
            </a:avLst>
          </a:prstGeom>
          <a:solidFill>
            <a:srgbClr val="111C33"/>
          </a:solidFill>
          <a:ln w="12700">
            <a:solidFill>
              <a:srgbClr val="1F3157"/>
            </a:solidFill>
            <a:prstDash val="solid"/>
          </a:ln>
        </p:spPr>
      </p:sp>
      <p:sp>
        <p:nvSpPr>
          <p:cNvPr id="21" name="Shape 15"/>
          <p:cNvSpPr/>
          <p:nvPr/>
        </p:nvSpPr>
        <p:spPr>
          <a:xfrm>
            <a:off x="619049" y="3087929"/>
            <a:ext cx="590702" cy="590702"/>
          </a:xfrm>
          <a:prstGeom prst="ellipse">
            <a:avLst/>
          </a:prstGeom>
          <a:solidFill>
            <a:srgbClr val="00D4FF">
              <a:alpha val="15000"/>
            </a:srgbClr>
          </a:solidFill>
          <a:ln w="9525">
            <a:solidFill>
              <a:srgbClr val="00D4FF">
                <a:alpha val="50000"/>
              </a:srgbClr>
            </a:solidFill>
            <a:prstDash val="solid"/>
          </a:ln>
        </p:spPr>
      </p:sp>
      <p:pic>
        <p:nvPicPr>
          <p:cNvPr id="22" name="Image 3" descr="preencoded.png">    </p:cNvPr>
          <p:cNvPicPr>
            <a:picLocks noChangeAspect="1"/>
          </p:cNvPicPr>
          <p:nvPr/>
        </p:nvPicPr>
        <p:blipFill>
          <a:blip r:embed="rId4"/>
          <a:stretch>
            <a:fillRect/>
          </a:stretch>
        </p:blipFill>
        <p:spPr>
          <a:xfrm>
            <a:off x="758952" y="3227832"/>
            <a:ext cx="310896" cy="310896"/>
          </a:xfrm>
          <a:prstGeom prst="rect">
            <a:avLst/>
          </a:prstGeom>
        </p:spPr>
      </p:pic>
      <p:sp>
        <p:nvSpPr>
          <p:cNvPr id="23" name="Text 16"/>
          <p:cNvSpPr txBox="1"/>
          <p:nvPr/>
        </p:nvSpPr>
        <p:spPr>
          <a:xfrm>
            <a:off x="1417320" y="320040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Vishing</a:t>
            </a:r>
            <a:endParaRPr lang="en-US" sz="1400" dirty="0"/>
          </a:p>
        </p:txBody>
      </p:sp>
      <p:sp>
        <p:nvSpPr>
          <p:cNvPr id="24" name="Text 17"/>
          <p:cNvSpPr txBox="1"/>
          <p:nvPr/>
        </p:nvSpPr>
        <p:spPr>
          <a:xfrm>
            <a:off x="640080" y="379476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Voice phishing: calls pretending to be banks or support teams.</a:t>
            </a:r>
            <a:endParaRPr lang="en-US" sz="1200" dirty="0"/>
          </a:p>
        </p:txBody>
      </p:sp>
      <p:sp>
        <p:nvSpPr>
          <p:cNvPr id="25" name="Shape 18"/>
          <p:cNvSpPr/>
          <p:nvPr/>
        </p:nvSpPr>
        <p:spPr>
          <a:xfrm>
            <a:off x="3246120" y="2926080"/>
            <a:ext cx="2651760" cy="1554480"/>
          </a:xfrm>
          <a:prstGeom prst="roundRect">
            <a:avLst>
              <a:gd name="adj" fmla="val 4706"/>
            </a:avLst>
          </a:prstGeom>
          <a:solidFill>
            <a:srgbClr val="111C33"/>
          </a:solidFill>
          <a:ln w="12700">
            <a:solidFill>
              <a:srgbClr val="1F3157"/>
            </a:solidFill>
            <a:prstDash val="solid"/>
          </a:ln>
        </p:spPr>
      </p:sp>
      <p:sp>
        <p:nvSpPr>
          <p:cNvPr id="26" name="Shape 19"/>
          <p:cNvSpPr/>
          <p:nvPr/>
        </p:nvSpPr>
        <p:spPr>
          <a:xfrm>
            <a:off x="3407969" y="3087929"/>
            <a:ext cx="590702" cy="590702"/>
          </a:xfrm>
          <a:prstGeom prst="ellipse">
            <a:avLst/>
          </a:prstGeom>
          <a:solidFill>
            <a:srgbClr val="00D4FF">
              <a:alpha val="15000"/>
            </a:srgbClr>
          </a:solidFill>
          <a:ln w="9525">
            <a:solidFill>
              <a:srgbClr val="00D4FF">
                <a:alpha val="50000"/>
              </a:srgbClr>
            </a:solidFill>
            <a:prstDash val="solid"/>
          </a:ln>
        </p:spPr>
      </p:sp>
      <p:pic>
        <p:nvPicPr>
          <p:cNvPr id="27" name="Image 4" descr="preencoded.png">    </p:cNvPr>
          <p:cNvPicPr>
            <a:picLocks noChangeAspect="1"/>
          </p:cNvPicPr>
          <p:nvPr/>
        </p:nvPicPr>
        <p:blipFill>
          <a:blip r:embed="rId5"/>
          <a:stretch>
            <a:fillRect/>
          </a:stretch>
        </p:blipFill>
        <p:spPr>
          <a:xfrm>
            <a:off x="3547872" y="3227832"/>
            <a:ext cx="310896" cy="310896"/>
          </a:xfrm>
          <a:prstGeom prst="rect">
            <a:avLst/>
          </a:prstGeom>
        </p:spPr>
      </p:pic>
      <p:sp>
        <p:nvSpPr>
          <p:cNvPr id="28" name="Text 20"/>
          <p:cNvSpPr txBox="1"/>
          <p:nvPr/>
        </p:nvSpPr>
        <p:spPr>
          <a:xfrm>
            <a:off x="4206240" y="320040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Clone Phishing</a:t>
            </a:r>
            <a:endParaRPr lang="en-US" sz="1400" dirty="0"/>
          </a:p>
        </p:txBody>
      </p:sp>
      <p:sp>
        <p:nvSpPr>
          <p:cNvPr id="29" name="Text 21"/>
          <p:cNvSpPr txBox="1"/>
          <p:nvPr/>
        </p:nvSpPr>
        <p:spPr>
          <a:xfrm>
            <a:off x="3429000" y="379476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A genuine earlier email is copied with the link or file swapped.</a:t>
            </a:r>
            <a:endParaRPr lang="en-US" sz="1200" dirty="0"/>
          </a:p>
        </p:txBody>
      </p:sp>
      <p:sp>
        <p:nvSpPr>
          <p:cNvPr id="30" name="Shape 22"/>
          <p:cNvSpPr/>
          <p:nvPr/>
        </p:nvSpPr>
        <p:spPr>
          <a:xfrm>
            <a:off x="6035040" y="2926080"/>
            <a:ext cx="2651760" cy="1554480"/>
          </a:xfrm>
          <a:prstGeom prst="roundRect">
            <a:avLst>
              <a:gd name="adj" fmla="val 4706"/>
            </a:avLst>
          </a:prstGeom>
          <a:solidFill>
            <a:srgbClr val="111C33"/>
          </a:solidFill>
          <a:ln w="12700">
            <a:solidFill>
              <a:srgbClr val="1F3157"/>
            </a:solidFill>
            <a:prstDash val="solid"/>
          </a:ln>
        </p:spPr>
      </p:sp>
      <p:sp>
        <p:nvSpPr>
          <p:cNvPr id="31" name="Shape 23"/>
          <p:cNvSpPr/>
          <p:nvPr/>
        </p:nvSpPr>
        <p:spPr>
          <a:xfrm>
            <a:off x="6196889" y="3087929"/>
            <a:ext cx="590702" cy="590702"/>
          </a:xfrm>
          <a:prstGeom prst="ellipse">
            <a:avLst/>
          </a:prstGeom>
          <a:solidFill>
            <a:srgbClr val="00D4FF">
              <a:alpha val="15000"/>
            </a:srgbClr>
          </a:solidFill>
          <a:ln w="9525">
            <a:solidFill>
              <a:srgbClr val="00D4FF">
                <a:alpha val="50000"/>
              </a:srgbClr>
            </a:solidFill>
            <a:prstDash val="solid"/>
          </a:ln>
        </p:spPr>
      </p:sp>
      <p:pic>
        <p:nvPicPr>
          <p:cNvPr id="32" name="Image 5" descr="preencoded.png">    </p:cNvPr>
          <p:cNvPicPr>
            <a:picLocks noChangeAspect="1"/>
          </p:cNvPicPr>
          <p:nvPr/>
        </p:nvPicPr>
        <p:blipFill>
          <a:blip r:embed="rId6"/>
          <a:stretch>
            <a:fillRect/>
          </a:stretch>
        </p:blipFill>
        <p:spPr>
          <a:xfrm>
            <a:off x="6336792" y="3227832"/>
            <a:ext cx="310896" cy="310896"/>
          </a:xfrm>
          <a:prstGeom prst="rect">
            <a:avLst/>
          </a:prstGeom>
        </p:spPr>
      </p:pic>
      <p:sp>
        <p:nvSpPr>
          <p:cNvPr id="33" name="Text 24"/>
          <p:cNvSpPr txBox="1"/>
          <p:nvPr/>
        </p:nvSpPr>
        <p:spPr>
          <a:xfrm>
            <a:off x="6995160" y="3200400"/>
            <a:ext cx="16002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QR Code Phishing</a:t>
            </a:r>
            <a:endParaRPr lang="en-US" sz="1400" dirty="0"/>
          </a:p>
        </p:txBody>
      </p:sp>
      <p:sp>
        <p:nvSpPr>
          <p:cNvPr id="34" name="Text 25"/>
          <p:cNvSpPr txBox="1"/>
          <p:nvPr/>
        </p:nvSpPr>
        <p:spPr>
          <a:xfrm>
            <a:off x="6217920" y="3794760"/>
            <a:ext cx="2286000" cy="640080"/>
          </a:xfrm>
          <a:prstGeom prst="rect">
            <a:avLst/>
          </a:prstGeom>
          <a:noFill/>
          <a:ln/>
        </p:spPr>
        <p:txBody>
          <a:bodyPr wrap="square" lIns="0" tIns="0" rIns="0" bIns="0" rtlCol="0" anchor="t"/>
          <a:lstStyle/>
          <a:p>
            <a:pPr indent="0" marL="0">
              <a:buNone/>
            </a:pPr>
            <a:r>
              <a:rPr lang="en-US" sz="1200" dirty="0">
                <a:solidFill>
                  <a:srgbClr val="CBD5E1"/>
                </a:solidFill>
                <a:latin typeface="Calibri" pitchFamily="34" charset="0"/>
                <a:ea typeface="Calibri" pitchFamily="34" charset="-122"/>
                <a:cs typeface="Calibri" pitchFamily="34" charset="-120"/>
              </a:rPr>
              <a:t>A malicious QR code leads to a fake page. Scan only trusted codes.</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Identifying Phishing Emails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Fictional example – no real organization or link</a:t>
            </a:r>
            <a:endParaRPr lang="en-US" sz="1300" dirty="0"/>
          </a:p>
        </p:txBody>
      </p:sp>
      <p:sp>
        <p:nvSpPr>
          <p:cNvPr id="5" name="Shape 2"/>
          <p:cNvSpPr/>
          <p:nvPr/>
        </p:nvSpPr>
        <p:spPr>
          <a:xfrm>
            <a:off x="457200" y="1188720"/>
            <a:ext cx="5120640" cy="3383280"/>
          </a:xfrm>
          <a:prstGeom prst="rect">
            <a:avLst/>
          </a:prstGeom>
          <a:solidFill>
            <a:srgbClr val="F8FAFC"/>
          </a:solidFill>
          <a:ln w="12700">
            <a:solidFill>
              <a:srgbClr val="1F3157"/>
            </a:solidFill>
            <a:prstDash val="solid"/>
          </a:ln>
        </p:spPr>
      </p:sp>
      <p:sp>
        <p:nvSpPr>
          <p:cNvPr id="6" name="Shape 3"/>
          <p:cNvSpPr/>
          <p:nvPr/>
        </p:nvSpPr>
        <p:spPr>
          <a:xfrm>
            <a:off x="457200" y="1188720"/>
            <a:ext cx="5120640" cy="777240"/>
          </a:xfrm>
          <a:prstGeom prst="rect">
            <a:avLst/>
          </a:prstGeom>
          <a:solidFill>
            <a:srgbClr val="E2E8F0"/>
          </a:solidFill>
          <a:ln w="12700">
            <a:solidFill>
              <a:srgbClr val="E2E8F0"/>
            </a:solidFill>
            <a:prstDash val="solid"/>
          </a:ln>
        </p:spPr>
      </p:sp>
      <p:sp>
        <p:nvSpPr>
          <p:cNvPr id="7" name="Text 4"/>
          <p:cNvSpPr txBox="1"/>
          <p:nvPr/>
        </p:nvSpPr>
        <p:spPr>
          <a:xfrm>
            <a:off x="640080" y="1280160"/>
            <a:ext cx="4389120" cy="274320"/>
          </a:xfrm>
          <a:prstGeom prst="rect">
            <a:avLst/>
          </a:prstGeom>
          <a:noFill/>
          <a:ln/>
        </p:spPr>
        <p:txBody>
          <a:bodyPr wrap="square" lIns="0" tIns="0" rIns="0" bIns="0" rtlCol="0" anchor="t"/>
          <a:lstStyle/>
          <a:p>
            <a:pPr indent="0" marL="0">
              <a:buNone/>
            </a:pPr>
            <a:r>
              <a:rPr lang="en-US" sz="1200" dirty="0">
                <a:solidFill>
                  <a:srgbClr val="334155"/>
                </a:solidFill>
                <a:latin typeface="Calibri" pitchFamily="34" charset="0"/>
                <a:ea typeface="Calibri" pitchFamily="34" charset="-122"/>
                <a:cs typeface="Calibri" pitchFamily="34" charset="-120"/>
              </a:rPr>
              <a:t>From: support@account-alert.example</a:t>
            </a:r>
            <a:endParaRPr lang="en-US" sz="1200" dirty="0"/>
          </a:p>
        </p:txBody>
      </p:sp>
      <p:sp>
        <p:nvSpPr>
          <p:cNvPr id="8" name="Text 5"/>
          <p:cNvSpPr txBox="1"/>
          <p:nvPr/>
        </p:nvSpPr>
        <p:spPr>
          <a:xfrm>
            <a:off x="640080" y="1600200"/>
            <a:ext cx="4389120" cy="27432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Subject: URGENT! Your Account Will Be Suspended</a:t>
            </a:r>
            <a:endParaRPr lang="en-US" sz="1300" dirty="0"/>
          </a:p>
        </p:txBody>
      </p:sp>
      <p:sp>
        <p:nvSpPr>
          <p:cNvPr id="9" name="Text 6"/>
          <p:cNvSpPr txBox="1"/>
          <p:nvPr/>
        </p:nvSpPr>
        <p:spPr>
          <a:xfrm>
            <a:off x="640080" y="2148840"/>
            <a:ext cx="4389120" cy="2743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Dear Customer,</a:t>
            </a:r>
            <a:endParaRPr lang="en-US" sz="1300" dirty="0"/>
          </a:p>
        </p:txBody>
      </p:sp>
      <p:sp>
        <p:nvSpPr>
          <p:cNvPr id="10" name="Text 7"/>
          <p:cNvSpPr txBox="1"/>
          <p:nvPr/>
        </p:nvSpPr>
        <p:spPr>
          <a:xfrm>
            <a:off x="640080" y="2468880"/>
            <a:ext cx="4297680" cy="5029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Your account requires immediate verification. Click below to avoid suspension.</a:t>
            </a:r>
            <a:endParaRPr lang="en-US" sz="1300" dirty="0"/>
          </a:p>
        </p:txBody>
      </p:sp>
      <p:sp>
        <p:nvSpPr>
          <p:cNvPr id="11" name="Text 8"/>
          <p:cNvSpPr txBox="1"/>
          <p:nvPr/>
        </p:nvSpPr>
        <p:spPr>
          <a:xfrm>
            <a:off x="640080" y="3017520"/>
            <a:ext cx="4297680" cy="2743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Please confirm your password and OTP to continue.</a:t>
            </a:r>
            <a:endParaRPr lang="en-US" sz="1300" dirty="0"/>
          </a:p>
        </p:txBody>
      </p:sp>
      <p:sp>
        <p:nvSpPr>
          <p:cNvPr id="12" name="Shape 9"/>
          <p:cNvSpPr/>
          <p:nvPr/>
        </p:nvSpPr>
        <p:spPr>
          <a:xfrm>
            <a:off x="640080" y="3429000"/>
            <a:ext cx="1645920" cy="457200"/>
          </a:xfrm>
          <a:prstGeom prst="roundRect">
            <a:avLst>
              <a:gd name="adj" fmla="val 16000"/>
            </a:avLst>
          </a:prstGeom>
          <a:solidFill>
            <a:srgbClr val="DC2626"/>
          </a:solidFill>
          <a:ln w="12700">
            <a:solidFill>
              <a:srgbClr val="DC2626"/>
            </a:solidFill>
            <a:prstDash val="solid"/>
          </a:ln>
        </p:spPr>
      </p:sp>
      <p:sp>
        <p:nvSpPr>
          <p:cNvPr id="13" name="Text 10"/>
          <p:cNvSpPr txBox="1"/>
          <p:nvPr/>
        </p:nvSpPr>
        <p:spPr>
          <a:xfrm>
            <a:off x="640080" y="3429000"/>
            <a:ext cx="16459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 NOW</a:t>
            </a:r>
            <a:endParaRPr lang="en-US" sz="1300" dirty="0"/>
          </a:p>
        </p:txBody>
      </p:sp>
      <p:sp>
        <p:nvSpPr>
          <p:cNvPr id="14" name="Text 11"/>
          <p:cNvSpPr txBox="1"/>
          <p:nvPr/>
        </p:nvSpPr>
        <p:spPr>
          <a:xfrm>
            <a:off x="640080" y="4069080"/>
            <a:ext cx="4389120" cy="274320"/>
          </a:xfrm>
          <a:prstGeom prst="rect">
            <a:avLst/>
          </a:prstGeom>
          <a:noFill/>
          <a:ln/>
        </p:spPr>
        <p:txBody>
          <a:bodyPr wrap="square" lIns="0" tIns="0" rIns="0" bIns="0" rtlCol="0" anchor="t"/>
          <a:lstStyle/>
          <a:p>
            <a:pPr indent="0" marL="0">
              <a:buNone/>
            </a:pPr>
            <a:r>
              <a:rPr lang="en-US" sz="1100" u="sng" dirty="0">
                <a:solidFill>
                  <a:srgbClr val="2563EB"/>
                </a:solidFill>
                <a:latin typeface="Calibri" pitchFamily="34" charset="0"/>
                <a:ea typeface="Calibri" pitchFamily="34" charset="-122"/>
                <a:cs typeface="Calibri" pitchFamily="34" charset="-120"/>
              </a:rPr>
              <a:t>http://verify-account.example/login</a:t>
            </a:r>
            <a:endParaRPr lang="en-US" sz="1100" dirty="0"/>
          </a:p>
        </p:txBody>
      </p:sp>
      <p:sp>
        <p:nvSpPr>
          <p:cNvPr id="15" name="Shape 12"/>
          <p:cNvSpPr/>
          <p:nvPr/>
        </p:nvSpPr>
        <p:spPr>
          <a:xfrm>
            <a:off x="5120640" y="1280160"/>
            <a:ext cx="274320" cy="274320"/>
          </a:xfrm>
          <a:prstGeom prst="ellipse">
            <a:avLst/>
          </a:prstGeom>
          <a:solidFill>
            <a:srgbClr val="EF4444"/>
          </a:solidFill>
          <a:ln w="12700">
            <a:solidFill>
              <a:srgbClr val="EF4444"/>
            </a:solidFill>
            <a:prstDash val="solid"/>
          </a:ln>
        </p:spPr>
      </p:sp>
      <p:sp>
        <p:nvSpPr>
          <p:cNvPr id="16" name="Text 13"/>
          <p:cNvSpPr txBox="1"/>
          <p:nvPr/>
        </p:nvSpPr>
        <p:spPr>
          <a:xfrm>
            <a:off x="5120640" y="12801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7" name="Shape 14"/>
          <p:cNvSpPr/>
          <p:nvPr/>
        </p:nvSpPr>
        <p:spPr>
          <a:xfrm>
            <a:off x="5120640" y="1600200"/>
            <a:ext cx="274320" cy="274320"/>
          </a:xfrm>
          <a:prstGeom prst="ellipse">
            <a:avLst/>
          </a:prstGeom>
          <a:solidFill>
            <a:srgbClr val="EF4444"/>
          </a:solidFill>
          <a:ln w="12700">
            <a:solidFill>
              <a:srgbClr val="EF4444"/>
            </a:solidFill>
            <a:prstDash val="solid"/>
          </a:ln>
        </p:spPr>
      </p:sp>
      <p:sp>
        <p:nvSpPr>
          <p:cNvPr id="18" name="Text 15"/>
          <p:cNvSpPr txBox="1"/>
          <p:nvPr/>
        </p:nvSpPr>
        <p:spPr>
          <a:xfrm>
            <a:off x="5120640" y="16002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9" name="Shape 16"/>
          <p:cNvSpPr/>
          <p:nvPr/>
        </p:nvSpPr>
        <p:spPr>
          <a:xfrm>
            <a:off x="5120640" y="2468880"/>
            <a:ext cx="274320" cy="274320"/>
          </a:xfrm>
          <a:prstGeom prst="ellipse">
            <a:avLst/>
          </a:prstGeom>
          <a:solidFill>
            <a:srgbClr val="EF4444"/>
          </a:solidFill>
          <a:ln w="12700">
            <a:solidFill>
              <a:srgbClr val="EF4444"/>
            </a:solidFill>
            <a:prstDash val="solid"/>
          </a:ln>
        </p:spPr>
      </p:sp>
      <p:sp>
        <p:nvSpPr>
          <p:cNvPr id="20" name="Text 17"/>
          <p:cNvSpPr txBox="1"/>
          <p:nvPr/>
        </p:nvSpPr>
        <p:spPr>
          <a:xfrm>
            <a:off x="5120640" y="24688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Shape 18"/>
          <p:cNvSpPr/>
          <p:nvPr/>
        </p:nvSpPr>
        <p:spPr>
          <a:xfrm>
            <a:off x="5120640" y="3017520"/>
            <a:ext cx="274320" cy="274320"/>
          </a:xfrm>
          <a:prstGeom prst="ellipse">
            <a:avLst/>
          </a:prstGeom>
          <a:solidFill>
            <a:srgbClr val="EF4444"/>
          </a:solidFill>
          <a:ln w="12700">
            <a:solidFill>
              <a:srgbClr val="EF4444"/>
            </a:solidFill>
            <a:prstDash val="solid"/>
          </a:ln>
        </p:spPr>
      </p:sp>
      <p:sp>
        <p:nvSpPr>
          <p:cNvPr id="22" name="Text 19"/>
          <p:cNvSpPr txBox="1"/>
          <p:nvPr/>
        </p:nvSpPr>
        <p:spPr>
          <a:xfrm>
            <a:off x="5120640" y="3017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Shape 20"/>
          <p:cNvSpPr/>
          <p:nvPr/>
        </p:nvSpPr>
        <p:spPr>
          <a:xfrm>
            <a:off x="5120640" y="4069080"/>
            <a:ext cx="274320" cy="274320"/>
          </a:xfrm>
          <a:prstGeom prst="ellipse">
            <a:avLst/>
          </a:prstGeom>
          <a:solidFill>
            <a:srgbClr val="EF4444"/>
          </a:solidFill>
          <a:ln w="12700">
            <a:solidFill>
              <a:srgbClr val="EF4444"/>
            </a:solidFill>
            <a:prstDash val="solid"/>
          </a:ln>
        </p:spPr>
      </p:sp>
      <p:sp>
        <p:nvSpPr>
          <p:cNvPr id="24" name="Text 21"/>
          <p:cNvSpPr txBox="1"/>
          <p:nvPr/>
        </p:nvSpPr>
        <p:spPr>
          <a:xfrm>
            <a:off x="5120640" y="40690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Shape 22"/>
          <p:cNvSpPr/>
          <p:nvPr/>
        </p:nvSpPr>
        <p:spPr>
          <a:xfrm>
            <a:off x="5852160" y="1188720"/>
            <a:ext cx="2834640" cy="566928"/>
          </a:xfrm>
          <a:prstGeom prst="roundRect">
            <a:avLst>
              <a:gd name="adj" fmla="val 12903"/>
            </a:avLst>
          </a:prstGeom>
          <a:solidFill>
            <a:srgbClr val="111C33"/>
          </a:solidFill>
          <a:ln w="12700">
            <a:solidFill>
              <a:srgbClr val="EF4444"/>
            </a:solidFill>
            <a:prstDash val="solid"/>
          </a:ln>
        </p:spPr>
      </p:sp>
      <p:sp>
        <p:nvSpPr>
          <p:cNvPr id="26" name="Shape 23"/>
          <p:cNvSpPr/>
          <p:nvPr/>
        </p:nvSpPr>
        <p:spPr>
          <a:xfrm>
            <a:off x="5989320" y="1335024"/>
            <a:ext cx="274320" cy="274320"/>
          </a:xfrm>
          <a:prstGeom prst="ellipse">
            <a:avLst/>
          </a:prstGeom>
          <a:solidFill>
            <a:srgbClr val="EF4444"/>
          </a:solidFill>
          <a:ln w="12700">
            <a:solidFill>
              <a:srgbClr val="EF4444"/>
            </a:solidFill>
            <a:prstDash val="solid"/>
          </a:ln>
        </p:spPr>
      </p:sp>
      <p:sp>
        <p:nvSpPr>
          <p:cNvPr id="27" name="Text 24"/>
          <p:cNvSpPr txBox="1"/>
          <p:nvPr/>
        </p:nvSpPr>
        <p:spPr>
          <a:xfrm>
            <a:off x="5989320" y="13350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8" name="Text 25"/>
          <p:cNvSpPr txBox="1"/>
          <p:nvPr/>
        </p:nvSpPr>
        <p:spPr>
          <a:xfrm>
            <a:off x="6400800" y="1188720"/>
            <a:ext cx="219456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Unfamiliar sender domain</a:t>
            </a:r>
            <a:endParaRPr lang="en-US" sz="1200" dirty="0"/>
          </a:p>
        </p:txBody>
      </p:sp>
      <p:sp>
        <p:nvSpPr>
          <p:cNvPr id="29" name="Shape 26"/>
          <p:cNvSpPr/>
          <p:nvPr/>
        </p:nvSpPr>
        <p:spPr>
          <a:xfrm>
            <a:off x="5852160" y="1874520"/>
            <a:ext cx="2834640" cy="566928"/>
          </a:xfrm>
          <a:prstGeom prst="roundRect">
            <a:avLst>
              <a:gd name="adj" fmla="val 12903"/>
            </a:avLst>
          </a:prstGeom>
          <a:solidFill>
            <a:srgbClr val="111C33"/>
          </a:solidFill>
          <a:ln w="12700">
            <a:solidFill>
              <a:srgbClr val="EF4444"/>
            </a:solidFill>
            <a:prstDash val="solid"/>
          </a:ln>
        </p:spPr>
      </p:sp>
      <p:sp>
        <p:nvSpPr>
          <p:cNvPr id="30" name="Shape 27"/>
          <p:cNvSpPr/>
          <p:nvPr/>
        </p:nvSpPr>
        <p:spPr>
          <a:xfrm>
            <a:off x="5989320" y="2020824"/>
            <a:ext cx="274320" cy="274320"/>
          </a:xfrm>
          <a:prstGeom prst="ellipse">
            <a:avLst/>
          </a:prstGeom>
          <a:solidFill>
            <a:srgbClr val="EF4444"/>
          </a:solidFill>
          <a:ln w="12700">
            <a:solidFill>
              <a:srgbClr val="EF4444"/>
            </a:solidFill>
            <a:prstDash val="solid"/>
          </a:ln>
        </p:spPr>
      </p:sp>
      <p:sp>
        <p:nvSpPr>
          <p:cNvPr id="31" name="Text 28"/>
          <p:cNvSpPr txBox="1"/>
          <p:nvPr/>
        </p:nvSpPr>
        <p:spPr>
          <a:xfrm>
            <a:off x="5989320" y="20208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2" name="Text 29"/>
          <p:cNvSpPr txBox="1"/>
          <p:nvPr/>
        </p:nvSpPr>
        <p:spPr>
          <a:xfrm>
            <a:off x="6400800" y="1874520"/>
            <a:ext cx="219456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Urgent, threatening language</a:t>
            </a:r>
            <a:endParaRPr lang="en-US" sz="1200" dirty="0"/>
          </a:p>
        </p:txBody>
      </p:sp>
      <p:sp>
        <p:nvSpPr>
          <p:cNvPr id="33" name="Shape 30"/>
          <p:cNvSpPr/>
          <p:nvPr/>
        </p:nvSpPr>
        <p:spPr>
          <a:xfrm>
            <a:off x="5852160" y="2560320"/>
            <a:ext cx="2834640" cy="566928"/>
          </a:xfrm>
          <a:prstGeom prst="roundRect">
            <a:avLst>
              <a:gd name="adj" fmla="val 12903"/>
            </a:avLst>
          </a:prstGeom>
          <a:solidFill>
            <a:srgbClr val="111C33"/>
          </a:solidFill>
          <a:ln w="12700">
            <a:solidFill>
              <a:srgbClr val="EF4444"/>
            </a:solidFill>
            <a:prstDash val="solid"/>
          </a:ln>
        </p:spPr>
      </p:sp>
      <p:sp>
        <p:nvSpPr>
          <p:cNvPr id="34" name="Shape 31"/>
          <p:cNvSpPr/>
          <p:nvPr/>
        </p:nvSpPr>
        <p:spPr>
          <a:xfrm>
            <a:off x="5989320" y="2706624"/>
            <a:ext cx="274320" cy="274320"/>
          </a:xfrm>
          <a:prstGeom prst="ellipse">
            <a:avLst/>
          </a:prstGeom>
          <a:solidFill>
            <a:srgbClr val="EF4444"/>
          </a:solidFill>
          <a:ln w="12700">
            <a:solidFill>
              <a:srgbClr val="EF4444"/>
            </a:solidFill>
            <a:prstDash val="solid"/>
          </a:ln>
        </p:spPr>
      </p:sp>
      <p:sp>
        <p:nvSpPr>
          <p:cNvPr id="35" name="Text 32"/>
          <p:cNvSpPr txBox="1"/>
          <p:nvPr/>
        </p:nvSpPr>
        <p:spPr>
          <a:xfrm>
            <a:off x="5989320" y="27066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Text 33"/>
          <p:cNvSpPr txBox="1"/>
          <p:nvPr/>
        </p:nvSpPr>
        <p:spPr>
          <a:xfrm>
            <a:off x="6400800" y="2560320"/>
            <a:ext cx="219456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Unexpected verification request</a:t>
            </a:r>
            <a:endParaRPr lang="en-US" sz="1200" dirty="0"/>
          </a:p>
        </p:txBody>
      </p:sp>
      <p:sp>
        <p:nvSpPr>
          <p:cNvPr id="37" name="Shape 34"/>
          <p:cNvSpPr/>
          <p:nvPr/>
        </p:nvSpPr>
        <p:spPr>
          <a:xfrm>
            <a:off x="5852160" y="3246120"/>
            <a:ext cx="2834640" cy="566928"/>
          </a:xfrm>
          <a:prstGeom prst="roundRect">
            <a:avLst>
              <a:gd name="adj" fmla="val 12903"/>
            </a:avLst>
          </a:prstGeom>
          <a:solidFill>
            <a:srgbClr val="111C33"/>
          </a:solidFill>
          <a:ln w="12700">
            <a:solidFill>
              <a:srgbClr val="EF4444"/>
            </a:solidFill>
            <a:prstDash val="solid"/>
          </a:ln>
        </p:spPr>
      </p:sp>
      <p:sp>
        <p:nvSpPr>
          <p:cNvPr id="38" name="Shape 35"/>
          <p:cNvSpPr/>
          <p:nvPr/>
        </p:nvSpPr>
        <p:spPr>
          <a:xfrm>
            <a:off x="5989320" y="3392424"/>
            <a:ext cx="274320" cy="274320"/>
          </a:xfrm>
          <a:prstGeom prst="ellipse">
            <a:avLst/>
          </a:prstGeom>
          <a:solidFill>
            <a:srgbClr val="EF4444"/>
          </a:solidFill>
          <a:ln w="12700">
            <a:solidFill>
              <a:srgbClr val="EF4444"/>
            </a:solidFill>
            <a:prstDash val="solid"/>
          </a:ln>
        </p:spPr>
      </p:sp>
      <p:sp>
        <p:nvSpPr>
          <p:cNvPr id="39" name="Text 36"/>
          <p:cNvSpPr txBox="1"/>
          <p:nvPr/>
        </p:nvSpPr>
        <p:spPr>
          <a:xfrm>
            <a:off x="5989320" y="33924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0" name="Text 37"/>
          <p:cNvSpPr txBox="1"/>
          <p:nvPr/>
        </p:nvSpPr>
        <p:spPr>
          <a:xfrm>
            <a:off x="6400800" y="3246120"/>
            <a:ext cx="219456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Asks for sensitive information</a:t>
            </a:r>
            <a:endParaRPr lang="en-US" sz="1200" dirty="0"/>
          </a:p>
        </p:txBody>
      </p:sp>
      <p:sp>
        <p:nvSpPr>
          <p:cNvPr id="41" name="Shape 38"/>
          <p:cNvSpPr/>
          <p:nvPr/>
        </p:nvSpPr>
        <p:spPr>
          <a:xfrm>
            <a:off x="5852160" y="3931920"/>
            <a:ext cx="2834640" cy="566928"/>
          </a:xfrm>
          <a:prstGeom prst="roundRect">
            <a:avLst>
              <a:gd name="adj" fmla="val 12903"/>
            </a:avLst>
          </a:prstGeom>
          <a:solidFill>
            <a:srgbClr val="111C33"/>
          </a:solidFill>
          <a:ln w="12700">
            <a:solidFill>
              <a:srgbClr val="EF4444"/>
            </a:solidFill>
            <a:prstDash val="solid"/>
          </a:ln>
        </p:spPr>
      </p:sp>
      <p:sp>
        <p:nvSpPr>
          <p:cNvPr id="42" name="Shape 39"/>
          <p:cNvSpPr/>
          <p:nvPr/>
        </p:nvSpPr>
        <p:spPr>
          <a:xfrm>
            <a:off x="5989320" y="4078224"/>
            <a:ext cx="274320" cy="274320"/>
          </a:xfrm>
          <a:prstGeom prst="ellipse">
            <a:avLst/>
          </a:prstGeom>
          <a:solidFill>
            <a:srgbClr val="EF4444"/>
          </a:solidFill>
          <a:ln w="12700">
            <a:solidFill>
              <a:srgbClr val="EF4444"/>
            </a:solidFill>
            <a:prstDash val="solid"/>
          </a:ln>
        </p:spPr>
      </p:sp>
      <p:sp>
        <p:nvSpPr>
          <p:cNvPr id="43" name="Text 40"/>
          <p:cNvSpPr txBox="1"/>
          <p:nvPr/>
        </p:nvSpPr>
        <p:spPr>
          <a:xfrm>
            <a:off x="5989320" y="40782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1"/>
          <p:cNvSpPr txBox="1"/>
          <p:nvPr/>
        </p:nvSpPr>
        <p:spPr>
          <a:xfrm>
            <a:off x="6400800" y="3931920"/>
            <a:ext cx="219456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Suspicious link – hover to check</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Recognizing Fake Websites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Fictional, non-functional examples side by side</a:t>
            </a:r>
            <a:endParaRPr lang="en-US" sz="1300" dirty="0"/>
          </a:p>
        </p:txBody>
      </p:sp>
      <p:sp>
        <p:nvSpPr>
          <p:cNvPr id="5" name="Shape 2"/>
          <p:cNvSpPr/>
          <p:nvPr/>
        </p:nvSpPr>
        <p:spPr>
          <a:xfrm>
            <a:off x="457200" y="1188720"/>
            <a:ext cx="3931920" cy="2194560"/>
          </a:xfrm>
          <a:prstGeom prst="rect">
            <a:avLst/>
          </a:prstGeom>
          <a:solidFill>
            <a:srgbClr val="F1F5F9"/>
          </a:solidFill>
          <a:ln w="19050">
            <a:solidFill>
              <a:srgbClr val="22C55E"/>
            </a:solidFill>
            <a:prstDash val="solid"/>
          </a:ln>
        </p:spPr>
      </p:sp>
      <p:sp>
        <p:nvSpPr>
          <p:cNvPr id="6" name="Shape 3"/>
          <p:cNvSpPr/>
          <p:nvPr/>
        </p:nvSpPr>
        <p:spPr>
          <a:xfrm>
            <a:off x="548640" y="1261872"/>
            <a:ext cx="3749040" cy="274320"/>
          </a:xfrm>
          <a:prstGeom prst="roundRect">
            <a:avLst>
              <a:gd name="adj" fmla="val 26667"/>
            </a:avLst>
          </a:prstGeom>
          <a:solidFill>
            <a:srgbClr val="FFFFFF"/>
          </a:solidFill>
          <a:ln w="12700">
            <a:solidFill>
              <a:srgbClr val="CBD5E1"/>
            </a:solidFill>
            <a:prstDash val="solid"/>
          </a:ln>
        </p:spPr>
      </p:sp>
      <p:sp>
        <p:nvSpPr>
          <p:cNvPr id="7" name="Text 4"/>
          <p:cNvSpPr txBox="1"/>
          <p:nvPr/>
        </p:nvSpPr>
        <p:spPr>
          <a:xfrm>
            <a:off x="640080" y="1261872"/>
            <a:ext cx="3566160" cy="274320"/>
          </a:xfrm>
          <a:prstGeom prst="rect">
            <a:avLst/>
          </a:prstGeom>
          <a:noFill/>
          <a:ln/>
        </p:spPr>
        <p:txBody>
          <a:bodyPr wrap="square" lIns="0" tIns="0" rIns="0" bIns="0"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https://www.northbank.example</a:t>
            </a:r>
            <a:endParaRPr lang="en-US" sz="1000" dirty="0"/>
          </a:p>
        </p:txBody>
      </p:sp>
      <p:sp>
        <p:nvSpPr>
          <p:cNvPr id="8" name="Shape 5"/>
          <p:cNvSpPr/>
          <p:nvPr/>
        </p:nvSpPr>
        <p:spPr>
          <a:xfrm>
            <a:off x="548640" y="1645920"/>
            <a:ext cx="3749040" cy="274320"/>
          </a:xfrm>
          <a:prstGeom prst="rect">
            <a:avLst/>
          </a:prstGeom>
          <a:solidFill>
            <a:srgbClr val="1E3A8A"/>
          </a:solidFill>
          <a:ln w="12700">
            <a:solidFill>
              <a:srgbClr val="1E3A8A"/>
            </a:solidFill>
            <a:prstDash val="solid"/>
          </a:ln>
        </p:spPr>
      </p:sp>
      <p:sp>
        <p:nvSpPr>
          <p:cNvPr id="9" name="Text 6"/>
          <p:cNvSpPr txBox="1"/>
          <p:nvPr/>
        </p:nvSpPr>
        <p:spPr>
          <a:xfrm>
            <a:off x="640080" y="1645920"/>
            <a:ext cx="14630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NorthBank</a:t>
            </a:r>
            <a:endParaRPr lang="en-US" sz="1200" dirty="0"/>
          </a:p>
        </p:txBody>
      </p:sp>
      <p:sp>
        <p:nvSpPr>
          <p:cNvPr id="10" name="Text 7"/>
          <p:cNvSpPr txBox="1"/>
          <p:nvPr/>
        </p:nvSpPr>
        <p:spPr>
          <a:xfrm>
            <a:off x="2194560" y="1645920"/>
            <a:ext cx="2011680" cy="274320"/>
          </a:xfrm>
          <a:prstGeom prst="rect">
            <a:avLst/>
          </a:prstGeom>
          <a:noFill/>
          <a:ln/>
        </p:spPr>
        <p:txBody>
          <a:bodyPr wrap="square" lIns="0" tIns="0" rIns="0" bIns="0" rtlCol="0" anchor="ctr"/>
          <a:lstStyle/>
          <a:p>
            <a:pPr algn="r" indent="0" marL="0">
              <a:buNone/>
            </a:pPr>
            <a:r>
              <a:rPr lang="en-US" sz="1000" b="1" dirty="0">
                <a:solidFill>
                  <a:srgbClr val="86EFAC"/>
                </a:solidFill>
                <a:latin typeface="Calibri" pitchFamily="34" charset="0"/>
                <a:ea typeface="Calibri" pitchFamily="34" charset="-122"/>
                <a:cs typeface="Calibri" pitchFamily="34" charset="-120"/>
              </a:rPr>
              <a:t>LEGITIMATE</a:t>
            </a:r>
            <a:endParaRPr lang="en-US" sz="1000" dirty="0"/>
          </a:p>
        </p:txBody>
      </p:sp>
      <p:sp>
        <p:nvSpPr>
          <p:cNvPr id="11" name="Text 8"/>
          <p:cNvSpPr txBox="1"/>
          <p:nvPr/>
        </p:nvSpPr>
        <p:spPr>
          <a:xfrm>
            <a:off x="640080" y="1993392"/>
            <a:ext cx="3474720" cy="22860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Sign in to your account</a:t>
            </a:r>
            <a:endParaRPr lang="en-US" sz="1200" dirty="0"/>
          </a:p>
        </p:txBody>
      </p:sp>
      <p:sp>
        <p:nvSpPr>
          <p:cNvPr id="12" name="Shape 9"/>
          <p:cNvSpPr/>
          <p:nvPr/>
        </p:nvSpPr>
        <p:spPr>
          <a:xfrm>
            <a:off x="640080" y="2267712"/>
            <a:ext cx="3566160" cy="246888"/>
          </a:xfrm>
          <a:prstGeom prst="rect">
            <a:avLst/>
          </a:prstGeom>
          <a:solidFill>
            <a:srgbClr val="FFFFFF"/>
          </a:solidFill>
          <a:ln w="12700">
            <a:solidFill>
              <a:srgbClr val="CBD5E1"/>
            </a:solidFill>
            <a:prstDash val="solid"/>
          </a:ln>
        </p:spPr>
      </p:sp>
      <p:sp>
        <p:nvSpPr>
          <p:cNvPr id="13" name="Text 10"/>
          <p:cNvSpPr txBox="1"/>
          <p:nvPr/>
        </p:nvSpPr>
        <p:spPr>
          <a:xfrm>
            <a:off x="713232" y="2267712"/>
            <a:ext cx="3200400" cy="24688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Username</a:t>
            </a:r>
            <a:endParaRPr lang="en-US" sz="1000" dirty="0"/>
          </a:p>
        </p:txBody>
      </p:sp>
      <p:sp>
        <p:nvSpPr>
          <p:cNvPr id="14" name="Shape 11"/>
          <p:cNvSpPr/>
          <p:nvPr/>
        </p:nvSpPr>
        <p:spPr>
          <a:xfrm>
            <a:off x="640080" y="2560320"/>
            <a:ext cx="3566160" cy="246888"/>
          </a:xfrm>
          <a:prstGeom prst="rect">
            <a:avLst/>
          </a:prstGeom>
          <a:solidFill>
            <a:srgbClr val="FFFFFF"/>
          </a:solidFill>
          <a:ln w="12700">
            <a:solidFill>
              <a:srgbClr val="CBD5E1"/>
            </a:solidFill>
            <a:prstDash val="solid"/>
          </a:ln>
        </p:spPr>
      </p:sp>
      <p:sp>
        <p:nvSpPr>
          <p:cNvPr id="15" name="Text 12"/>
          <p:cNvSpPr txBox="1"/>
          <p:nvPr/>
        </p:nvSpPr>
        <p:spPr>
          <a:xfrm>
            <a:off x="713232" y="2560320"/>
            <a:ext cx="3200400" cy="24688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Password</a:t>
            </a:r>
            <a:endParaRPr lang="en-US" sz="1000" dirty="0"/>
          </a:p>
        </p:txBody>
      </p:sp>
      <p:sp>
        <p:nvSpPr>
          <p:cNvPr id="16" name="Shape 13"/>
          <p:cNvSpPr/>
          <p:nvPr/>
        </p:nvSpPr>
        <p:spPr>
          <a:xfrm>
            <a:off x="640080" y="2871216"/>
            <a:ext cx="1188720" cy="237744"/>
          </a:xfrm>
          <a:prstGeom prst="roundRect">
            <a:avLst>
              <a:gd name="adj" fmla="val 30769"/>
            </a:avLst>
          </a:prstGeom>
          <a:solidFill>
            <a:srgbClr val="2563EB"/>
          </a:solidFill>
          <a:ln w="12700">
            <a:solidFill>
              <a:srgbClr val="2563EB"/>
            </a:solidFill>
            <a:prstDash val="solid"/>
          </a:ln>
        </p:spPr>
      </p:sp>
      <p:sp>
        <p:nvSpPr>
          <p:cNvPr id="17" name="Text 14"/>
          <p:cNvSpPr txBox="1"/>
          <p:nvPr/>
        </p:nvSpPr>
        <p:spPr>
          <a:xfrm>
            <a:off x="640080" y="2871216"/>
            <a:ext cx="11887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Sign In</a:t>
            </a:r>
            <a:endParaRPr lang="en-US" sz="1000" dirty="0"/>
          </a:p>
        </p:txBody>
      </p:sp>
      <p:sp>
        <p:nvSpPr>
          <p:cNvPr id="18" name="Shape 15"/>
          <p:cNvSpPr/>
          <p:nvPr/>
        </p:nvSpPr>
        <p:spPr>
          <a:xfrm>
            <a:off x="4754880" y="1188720"/>
            <a:ext cx="3931920" cy="2194560"/>
          </a:xfrm>
          <a:prstGeom prst="rect">
            <a:avLst/>
          </a:prstGeom>
          <a:solidFill>
            <a:srgbClr val="F1F5F9"/>
          </a:solidFill>
          <a:ln w="19050">
            <a:solidFill>
              <a:srgbClr val="EF4444"/>
            </a:solidFill>
            <a:prstDash val="solid"/>
          </a:ln>
        </p:spPr>
      </p:sp>
      <p:sp>
        <p:nvSpPr>
          <p:cNvPr id="19" name="Shape 16"/>
          <p:cNvSpPr/>
          <p:nvPr/>
        </p:nvSpPr>
        <p:spPr>
          <a:xfrm>
            <a:off x="4846320" y="1261872"/>
            <a:ext cx="3749040" cy="274320"/>
          </a:xfrm>
          <a:prstGeom prst="roundRect">
            <a:avLst>
              <a:gd name="adj" fmla="val 26667"/>
            </a:avLst>
          </a:prstGeom>
          <a:solidFill>
            <a:srgbClr val="FFFFFF"/>
          </a:solidFill>
          <a:ln w="12700">
            <a:solidFill>
              <a:srgbClr val="CBD5E1"/>
            </a:solidFill>
            <a:prstDash val="solid"/>
          </a:ln>
        </p:spPr>
      </p:sp>
      <p:sp>
        <p:nvSpPr>
          <p:cNvPr id="20" name="Text 17"/>
          <p:cNvSpPr txBox="1"/>
          <p:nvPr/>
        </p:nvSpPr>
        <p:spPr>
          <a:xfrm>
            <a:off x="4937760" y="1261872"/>
            <a:ext cx="3566160" cy="274320"/>
          </a:xfrm>
          <a:prstGeom prst="rect">
            <a:avLst/>
          </a:prstGeom>
          <a:noFill/>
          <a:ln/>
        </p:spPr>
        <p:txBody>
          <a:bodyPr wrap="square" lIns="0" tIns="0" rIns="0" bIns="0" rtlCol="0" anchor="ctr"/>
          <a:lstStyle/>
          <a:p>
            <a:pPr indent="0" marL="0">
              <a:buNone/>
            </a:pPr>
            <a:r>
              <a:rPr lang="en-US" sz="1000" b="1" dirty="0">
                <a:solidFill>
                  <a:srgbClr val="B91C1C"/>
                </a:solidFill>
                <a:latin typeface="Calibri" pitchFamily="34" charset="0"/>
                <a:ea typeface="Calibri" pitchFamily="34" charset="-122"/>
                <a:cs typeface="Calibri" pitchFamily="34" charset="-120"/>
              </a:rPr>
              <a:t>https://northbank-secure-login.example</a:t>
            </a:r>
            <a:endParaRPr lang="en-US" sz="1000" dirty="0"/>
          </a:p>
        </p:txBody>
      </p:sp>
      <p:sp>
        <p:nvSpPr>
          <p:cNvPr id="21" name="Shape 18"/>
          <p:cNvSpPr/>
          <p:nvPr/>
        </p:nvSpPr>
        <p:spPr>
          <a:xfrm>
            <a:off x="4846320" y="1645920"/>
            <a:ext cx="3749040" cy="274320"/>
          </a:xfrm>
          <a:prstGeom prst="rect">
            <a:avLst/>
          </a:prstGeom>
          <a:solidFill>
            <a:srgbClr val="1E3A8A"/>
          </a:solidFill>
          <a:ln w="12700">
            <a:solidFill>
              <a:srgbClr val="1E3A8A"/>
            </a:solidFill>
            <a:prstDash val="solid"/>
          </a:ln>
        </p:spPr>
      </p:sp>
      <p:sp>
        <p:nvSpPr>
          <p:cNvPr id="22" name="Text 19"/>
          <p:cNvSpPr txBox="1"/>
          <p:nvPr/>
        </p:nvSpPr>
        <p:spPr>
          <a:xfrm>
            <a:off x="4937760" y="1645920"/>
            <a:ext cx="14630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NorthBank</a:t>
            </a:r>
            <a:endParaRPr lang="en-US" sz="1200" dirty="0"/>
          </a:p>
        </p:txBody>
      </p:sp>
      <p:sp>
        <p:nvSpPr>
          <p:cNvPr id="23" name="Text 20"/>
          <p:cNvSpPr txBox="1"/>
          <p:nvPr/>
        </p:nvSpPr>
        <p:spPr>
          <a:xfrm>
            <a:off x="6492240" y="1645920"/>
            <a:ext cx="2011680" cy="274320"/>
          </a:xfrm>
          <a:prstGeom prst="rect">
            <a:avLst/>
          </a:prstGeom>
          <a:noFill/>
          <a:ln/>
        </p:spPr>
        <p:txBody>
          <a:bodyPr wrap="square" lIns="0" tIns="0" rIns="0" bIns="0" rtlCol="0" anchor="ctr"/>
          <a:lstStyle/>
          <a:p>
            <a:pPr algn="r" indent="0" marL="0">
              <a:buNone/>
            </a:pPr>
            <a:r>
              <a:rPr lang="en-US" sz="1000" b="1" dirty="0">
                <a:solidFill>
                  <a:srgbClr val="FCA5A5"/>
                </a:solidFill>
                <a:latin typeface="Calibri" pitchFamily="34" charset="0"/>
                <a:ea typeface="Calibri" pitchFamily="34" charset="-122"/>
                <a:cs typeface="Calibri" pitchFamily="34" charset="-120"/>
              </a:rPr>
              <a:t>PHISHING IMITATION</a:t>
            </a:r>
            <a:endParaRPr lang="en-US" sz="1000" dirty="0"/>
          </a:p>
        </p:txBody>
      </p:sp>
      <p:sp>
        <p:nvSpPr>
          <p:cNvPr id="24" name="Text 21"/>
          <p:cNvSpPr txBox="1"/>
          <p:nvPr/>
        </p:nvSpPr>
        <p:spPr>
          <a:xfrm>
            <a:off x="4937760" y="1993392"/>
            <a:ext cx="3474720" cy="228600"/>
          </a:xfrm>
          <a:prstGeom prst="rect">
            <a:avLst/>
          </a:prstGeom>
          <a:noFill/>
          <a:ln/>
        </p:spPr>
        <p:txBody>
          <a:bodyPr wrap="square" lIns="0" tIns="0" rIns="0" bIns="0" rtlCol="0" anchor="t"/>
          <a:lstStyle/>
          <a:p>
            <a:pPr indent="0" marL="0">
              <a:buNone/>
            </a:pPr>
            <a:r>
              <a:rPr lang="en-US" sz="1200" b="1" dirty="0">
                <a:solidFill>
                  <a:srgbClr val="0F172A"/>
                </a:solidFill>
                <a:latin typeface="Calibri" pitchFamily="34" charset="0"/>
                <a:ea typeface="Calibri" pitchFamily="34" charset="-122"/>
                <a:cs typeface="Calibri" pitchFamily="34" charset="-120"/>
              </a:rPr>
              <a:t>Verify your identity</a:t>
            </a:r>
            <a:endParaRPr lang="en-US" sz="1200" dirty="0"/>
          </a:p>
        </p:txBody>
      </p:sp>
      <p:sp>
        <p:nvSpPr>
          <p:cNvPr id="25" name="Shape 22"/>
          <p:cNvSpPr/>
          <p:nvPr/>
        </p:nvSpPr>
        <p:spPr>
          <a:xfrm>
            <a:off x="4937760" y="2267712"/>
            <a:ext cx="3566160" cy="246888"/>
          </a:xfrm>
          <a:prstGeom prst="rect">
            <a:avLst/>
          </a:prstGeom>
          <a:solidFill>
            <a:srgbClr val="FFFFFF"/>
          </a:solidFill>
          <a:ln w="12700">
            <a:solidFill>
              <a:srgbClr val="CBD5E1"/>
            </a:solidFill>
            <a:prstDash val="solid"/>
          </a:ln>
        </p:spPr>
      </p:sp>
      <p:sp>
        <p:nvSpPr>
          <p:cNvPr id="26" name="Text 23"/>
          <p:cNvSpPr txBox="1"/>
          <p:nvPr/>
        </p:nvSpPr>
        <p:spPr>
          <a:xfrm>
            <a:off x="5010912" y="2267712"/>
            <a:ext cx="3200400" cy="24688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Username</a:t>
            </a:r>
            <a:endParaRPr lang="en-US" sz="1000" dirty="0"/>
          </a:p>
        </p:txBody>
      </p:sp>
      <p:sp>
        <p:nvSpPr>
          <p:cNvPr id="27" name="Shape 24"/>
          <p:cNvSpPr/>
          <p:nvPr/>
        </p:nvSpPr>
        <p:spPr>
          <a:xfrm>
            <a:off x="4937760" y="2560320"/>
            <a:ext cx="3566160" cy="246888"/>
          </a:xfrm>
          <a:prstGeom prst="rect">
            <a:avLst/>
          </a:prstGeom>
          <a:solidFill>
            <a:srgbClr val="FFFFFF"/>
          </a:solidFill>
          <a:ln w="12700">
            <a:solidFill>
              <a:srgbClr val="CBD5E1"/>
            </a:solidFill>
            <a:prstDash val="solid"/>
          </a:ln>
        </p:spPr>
      </p:sp>
      <p:sp>
        <p:nvSpPr>
          <p:cNvPr id="28" name="Text 25"/>
          <p:cNvSpPr txBox="1"/>
          <p:nvPr/>
        </p:nvSpPr>
        <p:spPr>
          <a:xfrm>
            <a:off x="5010912" y="2560320"/>
            <a:ext cx="3200400" cy="24688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Password</a:t>
            </a:r>
            <a:endParaRPr lang="en-US" sz="1000" dirty="0"/>
          </a:p>
        </p:txBody>
      </p:sp>
      <p:sp>
        <p:nvSpPr>
          <p:cNvPr id="29" name="Shape 26"/>
          <p:cNvSpPr/>
          <p:nvPr/>
        </p:nvSpPr>
        <p:spPr>
          <a:xfrm>
            <a:off x="4937760" y="2852928"/>
            <a:ext cx="3566160" cy="246888"/>
          </a:xfrm>
          <a:prstGeom prst="rect">
            <a:avLst/>
          </a:prstGeom>
          <a:solidFill>
            <a:srgbClr val="FFFFFF"/>
          </a:solidFill>
          <a:ln w="12700">
            <a:solidFill>
              <a:srgbClr val="EF4444"/>
            </a:solidFill>
            <a:prstDash val="solid"/>
          </a:ln>
        </p:spPr>
      </p:sp>
      <p:sp>
        <p:nvSpPr>
          <p:cNvPr id="30" name="Text 27"/>
          <p:cNvSpPr txBox="1"/>
          <p:nvPr/>
        </p:nvSpPr>
        <p:spPr>
          <a:xfrm>
            <a:off x="5010912" y="2852928"/>
            <a:ext cx="3200400" cy="24688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Card PIN and OTP</a:t>
            </a:r>
            <a:endParaRPr lang="en-US" sz="1000" dirty="0"/>
          </a:p>
        </p:txBody>
      </p:sp>
      <p:sp>
        <p:nvSpPr>
          <p:cNvPr id="31" name="Shape 28"/>
          <p:cNvSpPr/>
          <p:nvPr/>
        </p:nvSpPr>
        <p:spPr>
          <a:xfrm>
            <a:off x="4937760" y="3163824"/>
            <a:ext cx="1188720" cy="237744"/>
          </a:xfrm>
          <a:prstGeom prst="roundRect">
            <a:avLst>
              <a:gd name="adj" fmla="val 30769"/>
            </a:avLst>
          </a:prstGeom>
          <a:solidFill>
            <a:srgbClr val="DC2626"/>
          </a:solidFill>
          <a:ln w="12700">
            <a:solidFill>
              <a:srgbClr val="DC2626"/>
            </a:solidFill>
            <a:prstDash val="solid"/>
          </a:ln>
        </p:spPr>
      </p:sp>
      <p:sp>
        <p:nvSpPr>
          <p:cNvPr id="32" name="Text 29"/>
          <p:cNvSpPr txBox="1"/>
          <p:nvPr/>
        </p:nvSpPr>
        <p:spPr>
          <a:xfrm>
            <a:off x="4937760" y="3163824"/>
            <a:ext cx="11887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Continue</a:t>
            </a:r>
            <a:endParaRPr lang="en-US" sz="1000" dirty="0"/>
          </a:p>
        </p:txBody>
      </p:sp>
      <p:sp>
        <p:nvSpPr>
          <p:cNvPr id="33" name="Shape 30"/>
          <p:cNvSpPr/>
          <p:nvPr/>
        </p:nvSpPr>
        <p:spPr>
          <a:xfrm>
            <a:off x="457200" y="3520440"/>
            <a:ext cx="2651760" cy="502920"/>
          </a:xfrm>
          <a:prstGeom prst="roundRect">
            <a:avLst>
              <a:gd name="adj" fmla="val 14545"/>
            </a:avLst>
          </a:prstGeom>
          <a:solidFill>
            <a:srgbClr val="111C33"/>
          </a:solidFill>
          <a:ln w="12700">
            <a:solidFill>
              <a:srgbClr val="1F3157"/>
            </a:solidFill>
            <a:prstDash val="solid"/>
          </a:ln>
        </p:spPr>
      </p:sp>
      <p:sp>
        <p:nvSpPr>
          <p:cNvPr id="34" name="Text 31"/>
          <p:cNvSpPr txBox="1"/>
          <p:nvPr/>
        </p:nvSpPr>
        <p:spPr>
          <a:xfrm>
            <a:off x="594360" y="3520440"/>
            <a:ext cx="23774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Lookalike domain names</a:t>
            </a:r>
            <a:endParaRPr lang="en-US" sz="1100" dirty="0"/>
          </a:p>
        </p:txBody>
      </p:sp>
      <p:sp>
        <p:nvSpPr>
          <p:cNvPr id="35" name="Shape 32"/>
          <p:cNvSpPr/>
          <p:nvPr/>
        </p:nvSpPr>
        <p:spPr>
          <a:xfrm>
            <a:off x="3246120" y="3520440"/>
            <a:ext cx="2651760" cy="502920"/>
          </a:xfrm>
          <a:prstGeom prst="roundRect">
            <a:avLst>
              <a:gd name="adj" fmla="val 14545"/>
            </a:avLst>
          </a:prstGeom>
          <a:solidFill>
            <a:srgbClr val="111C33"/>
          </a:solidFill>
          <a:ln w="12700">
            <a:solidFill>
              <a:srgbClr val="1F3157"/>
            </a:solidFill>
            <a:prstDash val="solid"/>
          </a:ln>
        </p:spPr>
      </p:sp>
      <p:sp>
        <p:nvSpPr>
          <p:cNvPr id="36" name="Text 33"/>
          <p:cNvSpPr txBox="1"/>
          <p:nvPr/>
        </p:nvSpPr>
        <p:spPr>
          <a:xfrm>
            <a:off x="3383280" y="3520440"/>
            <a:ext cx="23774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Unexpected login pages reached from a message</a:t>
            </a:r>
            <a:endParaRPr lang="en-US" sz="1100" dirty="0"/>
          </a:p>
        </p:txBody>
      </p:sp>
      <p:sp>
        <p:nvSpPr>
          <p:cNvPr id="37" name="Shape 34"/>
          <p:cNvSpPr/>
          <p:nvPr/>
        </p:nvSpPr>
        <p:spPr>
          <a:xfrm>
            <a:off x="6035040" y="3520440"/>
            <a:ext cx="2651760" cy="502920"/>
          </a:xfrm>
          <a:prstGeom prst="roundRect">
            <a:avLst>
              <a:gd name="adj" fmla="val 14545"/>
            </a:avLst>
          </a:prstGeom>
          <a:solidFill>
            <a:srgbClr val="111C33"/>
          </a:solidFill>
          <a:ln w="12700">
            <a:solidFill>
              <a:srgbClr val="1F3157"/>
            </a:solidFill>
            <a:prstDash val="solid"/>
          </a:ln>
        </p:spPr>
      </p:sp>
      <p:sp>
        <p:nvSpPr>
          <p:cNvPr id="38" name="Text 35"/>
          <p:cNvSpPr txBox="1"/>
          <p:nvPr/>
        </p:nvSpPr>
        <p:spPr>
          <a:xfrm>
            <a:off x="6172200" y="3520440"/>
            <a:ext cx="23774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Misleading links hide the real address</a:t>
            </a:r>
            <a:endParaRPr lang="en-US" sz="1100" dirty="0"/>
          </a:p>
        </p:txBody>
      </p:sp>
      <p:sp>
        <p:nvSpPr>
          <p:cNvPr id="39" name="Shape 36"/>
          <p:cNvSpPr/>
          <p:nvPr/>
        </p:nvSpPr>
        <p:spPr>
          <a:xfrm>
            <a:off x="457200" y="4087368"/>
            <a:ext cx="2651760" cy="502920"/>
          </a:xfrm>
          <a:prstGeom prst="roundRect">
            <a:avLst>
              <a:gd name="adj" fmla="val 14545"/>
            </a:avLst>
          </a:prstGeom>
          <a:solidFill>
            <a:srgbClr val="111C33"/>
          </a:solidFill>
          <a:ln w="12700">
            <a:solidFill>
              <a:srgbClr val="1F3157"/>
            </a:solidFill>
            <a:prstDash val="solid"/>
          </a:ln>
        </p:spPr>
      </p:sp>
      <p:sp>
        <p:nvSpPr>
          <p:cNvPr id="40" name="Text 37"/>
          <p:cNvSpPr txBox="1"/>
          <p:nvPr/>
        </p:nvSpPr>
        <p:spPr>
          <a:xfrm>
            <a:off x="594360" y="4087368"/>
            <a:ext cx="23774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Suspicious redirects before the page loads</a:t>
            </a:r>
            <a:endParaRPr lang="en-US" sz="1100" dirty="0"/>
          </a:p>
        </p:txBody>
      </p:sp>
      <p:sp>
        <p:nvSpPr>
          <p:cNvPr id="41" name="Shape 38"/>
          <p:cNvSpPr/>
          <p:nvPr/>
        </p:nvSpPr>
        <p:spPr>
          <a:xfrm>
            <a:off x="3246120" y="4087368"/>
            <a:ext cx="2651760" cy="502920"/>
          </a:xfrm>
          <a:prstGeom prst="roundRect">
            <a:avLst>
              <a:gd name="adj" fmla="val 14545"/>
            </a:avLst>
          </a:prstGeom>
          <a:solidFill>
            <a:srgbClr val="111C33"/>
          </a:solidFill>
          <a:ln w="12700">
            <a:solidFill>
              <a:srgbClr val="1F3157"/>
            </a:solidFill>
            <a:prstDash val="solid"/>
          </a:ln>
        </p:spPr>
      </p:sp>
      <p:sp>
        <p:nvSpPr>
          <p:cNvPr id="42" name="Text 39"/>
          <p:cNvSpPr txBox="1"/>
          <p:nvPr/>
        </p:nvSpPr>
        <p:spPr>
          <a:xfrm>
            <a:off x="3383280" y="4087368"/>
            <a:ext cx="237744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Unnecessary requests such as PIN or OTP</a:t>
            </a:r>
            <a:endParaRPr lang="en-US" sz="1100" dirty="0"/>
          </a:p>
        </p:txBody>
      </p:sp>
      <p:sp>
        <p:nvSpPr>
          <p:cNvPr id="43" name="Shape 40"/>
          <p:cNvSpPr/>
          <p:nvPr/>
        </p:nvSpPr>
        <p:spPr>
          <a:xfrm>
            <a:off x="6035040" y="4087368"/>
            <a:ext cx="2651760" cy="502920"/>
          </a:xfrm>
          <a:prstGeom prst="roundRect">
            <a:avLst>
              <a:gd name="adj" fmla="val 14545"/>
            </a:avLst>
          </a:prstGeom>
          <a:solidFill>
            <a:srgbClr val="3B0F16"/>
          </a:solidFill>
          <a:ln w="12700">
            <a:solidFill>
              <a:srgbClr val="EF4444"/>
            </a:solidFill>
            <a:prstDash val="solid"/>
          </a:ln>
        </p:spPr>
      </p:sp>
      <p:sp>
        <p:nvSpPr>
          <p:cNvPr id="44" name="Text 41"/>
          <p:cNvSpPr txBox="1"/>
          <p:nvPr/>
        </p:nvSpPr>
        <p:spPr>
          <a:xfrm>
            <a:off x="6172200" y="4087368"/>
            <a:ext cx="237744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HTTPS means encrypted, not trustworthy</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Social Engineering Techniques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How attackers exploit human psychology</a:t>
            </a:r>
            <a:endParaRPr lang="en-US" sz="1300" dirty="0"/>
          </a:p>
        </p:txBody>
      </p:sp>
      <p:sp>
        <p:nvSpPr>
          <p:cNvPr id="5" name="Shape 2"/>
          <p:cNvSpPr/>
          <p:nvPr/>
        </p:nvSpPr>
        <p:spPr>
          <a:xfrm>
            <a:off x="3566160" y="2057400"/>
            <a:ext cx="2011680" cy="2011680"/>
          </a:xfrm>
          <a:prstGeom prst="ellipse">
            <a:avLst/>
          </a:prstGeom>
          <a:solidFill>
            <a:srgbClr val="00D4FF">
              <a:alpha val="6000"/>
            </a:srgbClr>
          </a:solidFill>
          <a:ln w="6350">
            <a:solidFill>
              <a:srgbClr val="00D4FF">
                <a:alpha val="20000"/>
              </a:srgbClr>
            </a:solidFill>
            <a:prstDash val="solid"/>
          </a:ln>
        </p:spPr>
      </p:sp>
      <p:sp>
        <p:nvSpPr>
          <p:cNvPr id="6" name="Shape 3"/>
          <p:cNvSpPr/>
          <p:nvPr/>
        </p:nvSpPr>
        <p:spPr>
          <a:xfrm>
            <a:off x="3787445" y="2278685"/>
            <a:ext cx="1569110" cy="1569110"/>
          </a:xfrm>
          <a:prstGeom prst="ellipse">
            <a:avLst/>
          </a:prstGeom>
          <a:solidFill>
            <a:srgbClr val="00D4FF">
              <a:alpha val="11000"/>
            </a:srgbClr>
          </a:solidFill>
          <a:ln w="6350">
            <a:solidFill>
              <a:srgbClr val="00D4FF">
                <a:alpha val="20000"/>
              </a:srgbClr>
            </a:solidFill>
            <a:prstDash val="solid"/>
          </a:ln>
        </p:spPr>
      </p:sp>
      <p:sp>
        <p:nvSpPr>
          <p:cNvPr id="7" name="Shape 4"/>
          <p:cNvSpPr/>
          <p:nvPr/>
        </p:nvSpPr>
        <p:spPr>
          <a:xfrm>
            <a:off x="4008730" y="2499970"/>
            <a:ext cx="1126541" cy="1126541"/>
          </a:xfrm>
          <a:prstGeom prst="ellipse">
            <a:avLst/>
          </a:prstGeom>
          <a:solidFill>
            <a:srgbClr val="00D4FF">
              <a:alpha val="16000"/>
            </a:srgbClr>
          </a:solidFill>
          <a:ln w="6350">
            <a:solidFill>
              <a:srgbClr val="00D4FF">
                <a:alpha val="20000"/>
              </a:srgbClr>
            </a:solidFill>
            <a:prstDash val="solid"/>
          </a:ln>
        </p:spPr>
      </p:sp>
      <p:pic>
        <p:nvPicPr>
          <p:cNvPr id="8" name="Image 0" descr="preencoded.png">    </p:cNvPr>
          <p:cNvPicPr>
            <a:picLocks noChangeAspect="1"/>
          </p:cNvPicPr>
          <p:nvPr/>
        </p:nvPicPr>
        <p:blipFill>
          <a:blip r:embed="rId1"/>
          <a:stretch>
            <a:fillRect/>
          </a:stretch>
        </p:blipFill>
        <p:spPr>
          <a:xfrm>
            <a:off x="4251960" y="2743200"/>
            <a:ext cx="640080" cy="640080"/>
          </a:xfrm>
          <a:prstGeom prst="rect">
            <a:avLst/>
          </a:prstGeom>
        </p:spPr>
      </p:pic>
      <p:sp>
        <p:nvSpPr>
          <p:cNvPr id="9" name="Text 5"/>
          <p:cNvSpPr txBox="1"/>
          <p:nvPr/>
        </p:nvSpPr>
        <p:spPr>
          <a:xfrm>
            <a:off x="3108960" y="4206240"/>
            <a:ext cx="2926080" cy="365760"/>
          </a:xfrm>
          <a:prstGeom prst="rect">
            <a:avLst/>
          </a:prstGeom>
          <a:noFill/>
          <a:ln/>
        </p:spPr>
        <p:txBody>
          <a:bodyPr wrap="square" lIns="0" tIns="0" rIns="0" bIns="0" rtlCol="0" anchor="t"/>
          <a:lstStyle/>
          <a:p>
            <a:pPr algn="ctr" indent="0" marL="0">
              <a:buNone/>
            </a:pPr>
            <a:r>
              <a:rPr lang="en-US" sz="1200" i="1" dirty="0">
                <a:solidFill>
                  <a:srgbClr val="94A3B8"/>
                </a:solidFill>
                <a:latin typeface="Calibri" pitchFamily="34" charset="0"/>
                <a:ea typeface="Calibri" pitchFamily="34" charset="-122"/>
                <a:cs typeface="Calibri" pitchFamily="34" charset="-120"/>
              </a:rPr>
              <a:t>Attackers target emotions, not technology</a:t>
            </a:r>
            <a:endParaRPr lang="en-US" sz="1200" dirty="0"/>
          </a:p>
        </p:txBody>
      </p:sp>
      <p:sp>
        <p:nvSpPr>
          <p:cNvPr id="10" name="Shape 6"/>
          <p:cNvSpPr/>
          <p:nvPr/>
        </p:nvSpPr>
        <p:spPr>
          <a:xfrm>
            <a:off x="457200" y="1188720"/>
            <a:ext cx="2651760" cy="1554480"/>
          </a:xfrm>
          <a:prstGeom prst="roundRect">
            <a:avLst>
              <a:gd name="adj" fmla="val 4706"/>
            </a:avLst>
          </a:prstGeom>
          <a:solidFill>
            <a:srgbClr val="111C33"/>
          </a:solidFill>
          <a:ln w="12700">
            <a:solidFill>
              <a:srgbClr val="1F3157"/>
            </a:solidFill>
            <a:prstDash val="solid"/>
          </a:ln>
        </p:spPr>
      </p:sp>
      <p:sp>
        <p:nvSpPr>
          <p:cNvPr id="11" name="Shape 7"/>
          <p:cNvSpPr/>
          <p:nvPr/>
        </p:nvSpPr>
        <p:spPr>
          <a:xfrm>
            <a:off x="608076" y="1339596"/>
            <a:ext cx="521208" cy="521208"/>
          </a:xfrm>
          <a:prstGeom prst="ellipse">
            <a:avLst/>
          </a:prstGeom>
          <a:solidFill>
            <a:srgbClr val="EF4444">
              <a:alpha val="15000"/>
            </a:srgbClr>
          </a:solidFill>
          <a:ln w="9525">
            <a:solidFill>
              <a:srgbClr val="EF4444">
                <a:alpha val="50000"/>
              </a:srgbClr>
            </a:solidFill>
            <a:prstDash val="solid"/>
          </a:ln>
        </p:spPr>
      </p:sp>
      <p:pic>
        <p:nvPicPr>
          <p:cNvPr id="12" name="Image 1" descr="preencoded.png">    </p:cNvPr>
          <p:cNvPicPr>
            <a:picLocks noChangeAspect="1"/>
          </p:cNvPicPr>
          <p:nvPr/>
        </p:nvPicPr>
        <p:blipFill>
          <a:blip r:embed="rId2"/>
          <a:stretch>
            <a:fillRect/>
          </a:stretch>
        </p:blipFill>
        <p:spPr>
          <a:xfrm>
            <a:off x="731520" y="1463040"/>
            <a:ext cx="274320" cy="274320"/>
          </a:xfrm>
          <a:prstGeom prst="rect">
            <a:avLst/>
          </a:prstGeom>
        </p:spPr>
      </p:pic>
      <p:sp>
        <p:nvSpPr>
          <p:cNvPr id="13" name="Text 8"/>
          <p:cNvSpPr txBox="1"/>
          <p:nvPr/>
        </p:nvSpPr>
        <p:spPr>
          <a:xfrm>
            <a:off x="1280160" y="1371600"/>
            <a:ext cx="17373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Fear</a:t>
            </a:r>
            <a:endParaRPr lang="en-US" sz="1500" dirty="0"/>
          </a:p>
        </p:txBody>
      </p:sp>
      <p:sp>
        <p:nvSpPr>
          <p:cNvPr id="14" name="Text 9"/>
          <p:cNvSpPr txBox="1"/>
          <p:nvPr/>
        </p:nvSpPr>
        <p:spPr>
          <a:xfrm>
            <a:off x="640080" y="2057400"/>
            <a:ext cx="22860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Threats of account loss or legal action cause panic.</a:t>
            </a:r>
            <a:endParaRPr lang="en-US" sz="1100" dirty="0"/>
          </a:p>
        </p:txBody>
      </p:sp>
      <p:sp>
        <p:nvSpPr>
          <p:cNvPr id="15" name="Shape 10"/>
          <p:cNvSpPr/>
          <p:nvPr/>
        </p:nvSpPr>
        <p:spPr>
          <a:xfrm>
            <a:off x="457200" y="3017520"/>
            <a:ext cx="2651760" cy="1554480"/>
          </a:xfrm>
          <a:prstGeom prst="roundRect">
            <a:avLst>
              <a:gd name="adj" fmla="val 4706"/>
            </a:avLst>
          </a:prstGeom>
          <a:solidFill>
            <a:srgbClr val="111C33"/>
          </a:solidFill>
          <a:ln w="12700">
            <a:solidFill>
              <a:srgbClr val="1F3157"/>
            </a:solidFill>
            <a:prstDash val="solid"/>
          </a:ln>
        </p:spPr>
      </p:sp>
      <p:sp>
        <p:nvSpPr>
          <p:cNvPr id="16" name="Shape 11"/>
          <p:cNvSpPr/>
          <p:nvPr/>
        </p:nvSpPr>
        <p:spPr>
          <a:xfrm>
            <a:off x="608076" y="3168396"/>
            <a:ext cx="521208" cy="521208"/>
          </a:xfrm>
          <a:prstGeom prst="ellipse">
            <a:avLst/>
          </a:prstGeom>
          <a:solidFill>
            <a:srgbClr val="EF4444">
              <a:alpha val="15000"/>
            </a:srgbClr>
          </a:solidFill>
          <a:ln w="9525">
            <a:solidFill>
              <a:srgbClr val="EF4444">
                <a:alpha val="50000"/>
              </a:srgbClr>
            </a:solidFill>
            <a:prstDash val="solid"/>
          </a:ln>
        </p:spPr>
      </p:sp>
      <p:pic>
        <p:nvPicPr>
          <p:cNvPr id="17" name="Image 2" descr="preencoded.png">    </p:cNvPr>
          <p:cNvPicPr>
            <a:picLocks noChangeAspect="1"/>
          </p:cNvPicPr>
          <p:nvPr/>
        </p:nvPicPr>
        <p:blipFill>
          <a:blip r:embed="rId3"/>
          <a:stretch>
            <a:fillRect/>
          </a:stretch>
        </p:blipFill>
        <p:spPr>
          <a:xfrm>
            <a:off x="731520" y="3291840"/>
            <a:ext cx="274320" cy="274320"/>
          </a:xfrm>
          <a:prstGeom prst="rect">
            <a:avLst/>
          </a:prstGeom>
        </p:spPr>
      </p:pic>
      <p:sp>
        <p:nvSpPr>
          <p:cNvPr id="18" name="Text 12"/>
          <p:cNvSpPr txBox="1"/>
          <p:nvPr/>
        </p:nvSpPr>
        <p:spPr>
          <a:xfrm>
            <a:off x="1280160" y="3200400"/>
            <a:ext cx="17373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Urgency</a:t>
            </a:r>
            <a:endParaRPr lang="en-US" sz="1500" dirty="0"/>
          </a:p>
        </p:txBody>
      </p:sp>
      <p:sp>
        <p:nvSpPr>
          <p:cNvPr id="19" name="Text 13"/>
          <p:cNvSpPr txBox="1"/>
          <p:nvPr/>
        </p:nvSpPr>
        <p:spPr>
          <a:xfrm>
            <a:off x="640080" y="3886200"/>
            <a:ext cx="22860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Tight deadlines stop you from checking carefully.</a:t>
            </a:r>
            <a:endParaRPr lang="en-US" sz="1100" dirty="0"/>
          </a:p>
        </p:txBody>
      </p:sp>
      <p:sp>
        <p:nvSpPr>
          <p:cNvPr id="20" name="Shape 14"/>
          <p:cNvSpPr/>
          <p:nvPr/>
        </p:nvSpPr>
        <p:spPr>
          <a:xfrm>
            <a:off x="3383280" y="1143000"/>
            <a:ext cx="2377440" cy="1005840"/>
          </a:xfrm>
          <a:prstGeom prst="roundRect">
            <a:avLst>
              <a:gd name="adj" fmla="val 7273"/>
            </a:avLst>
          </a:prstGeom>
          <a:solidFill>
            <a:srgbClr val="111C33"/>
          </a:solidFill>
          <a:ln w="12700">
            <a:solidFill>
              <a:srgbClr val="1F3157"/>
            </a:solidFill>
            <a:prstDash val="solid"/>
          </a:ln>
        </p:spPr>
      </p:sp>
      <p:sp>
        <p:nvSpPr>
          <p:cNvPr id="21" name="Shape 15"/>
          <p:cNvSpPr/>
          <p:nvPr/>
        </p:nvSpPr>
        <p:spPr>
          <a:xfrm>
            <a:off x="3534156" y="1293876"/>
            <a:ext cx="521208" cy="521208"/>
          </a:xfrm>
          <a:prstGeom prst="ellipse">
            <a:avLst/>
          </a:prstGeom>
          <a:solidFill>
            <a:srgbClr val="00D4FF">
              <a:alpha val="15000"/>
            </a:srgbClr>
          </a:solidFill>
          <a:ln w="9525">
            <a:solidFill>
              <a:srgbClr val="00D4FF">
                <a:alpha val="50000"/>
              </a:srgbClr>
            </a:solidFill>
            <a:prstDash val="solid"/>
          </a:ln>
        </p:spPr>
      </p:sp>
      <p:pic>
        <p:nvPicPr>
          <p:cNvPr id="22" name="Image 3" descr="preencoded.png">    </p:cNvPr>
          <p:cNvPicPr>
            <a:picLocks noChangeAspect="1"/>
          </p:cNvPicPr>
          <p:nvPr/>
        </p:nvPicPr>
        <p:blipFill>
          <a:blip r:embed="rId4"/>
          <a:stretch>
            <a:fillRect/>
          </a:stretch>
        </p:blipFill>
        <p:spPr>
          <a:xfrm>
            <a:off x="3657600" y="1417320"/>
            <a:ext cx="274320" cy="274320"/>
          </a:xfrm>
          <a:prstGeom prst="rect">
            <a:avLst/>
          </a:prstGeom>
        </p:spPr>
      </p:pic>
      <p:sp>
        <p:nvSpPr>
          <p:cNvPr id="23" name="Text 16"/>
          <p:cNvSpPr txBox="1"/>
          <p:nvPr/>
        </p:nvSpPr>
        <p:spPr>
          <a:xfrm>
            <a:off x="4206240" y="1325880"/>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Authority</a:t>
            </a:r>
            <a:endParaRPr lang="en-US" sz="1500" dirty="0"/>
          </a:p>
        </p:txBody>
      </p:sp>
      <p:sp>
        <p:nvSpPr>
          <p:cNvPr id="24" name="Text 17"/>
          <p:cNvSpPr txBox="1"/>
          <p:nvPr/>
        </p:nvSpPr>
        <p:spPr>
          <a:xfrm>
            <a:off x="3566160" y="1783080"/>
            <a:ext cx="2011680" cy="36576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Pretending to be a boss, bank, or official.</a:t>
            </a:r>
            <a:endParaRPr lang="en-US" sz="1100" dirty="0"/>
          </a:p>
        </p:txBody>
      </p:sp>
      <p:sp>
        <p:nvSpPr>
          <p:cNvPr id="25" name="Shape 18"/>
          <p:cNvSpPr/>
          <p:nvPr/>
        </p:nvSpPr>
        <p:spPr>
          <a:xfrm>
            <a:off x="6035040" y="1188720"/>
            <a:ext cx="2651760" cy="1554480"/>
          </a:xfrm>
          <a:prstGeom prst="roundRect">
            <a:avLst>
              <a:gd name="adj" fmla="val 4706"/>
            </a:avLst>
          </a:prstGeom>
          <a:solidFill>
            <a:srgbClr val="111C33"/>
          </a:solidFill>
          <a:ln w="12700">
            <a:solidFill>
              <a:srgbClr val="1F3157"/>
            </a:solidFill>
            <a:prstDash val="solid"/>
          </a:ln>
        </p:spPr>
      </p:sp>
      <p:sp>
        <p:nvSpPr>
          <p:cNvPr id="26" name="Shape 19"/>
          <p:cNvSpPr/>
          <p:nvPr/>
        </p:nvSpPr>
        <p:spPr>
          <a:xfrm>
            <a:off x="6185916" y="1339596"/>
            <a:ext cx="521208" cy="521208"/>
          </a:xfrm>
          <a:prstGeom prst="ellipse">
            <a:avLst/>
          </a:prstGeom>
          <a:solidFill>
            <a:srgbClr val="00D4FF">
              <a:alpha val="15000"/>
            </a:srgbClr>
          </a:solidFill>
          <a:ln w="9525">
            <a:solidFill>
              <a:srgbClr val="00D4FF">
                <a:alpha val="50000"/>
              </a:srgbClr>
            </a:solidFill>
            <a:prstDash val="solid"/>
          </a:ln>
        </p:spPr>
      </p:sp>
      <p:pic>
        <p:nvPicPr>
          <p:cNvPr id="27" name="Image 4" descr="preencoded.png">    </p:cNvPr>
          <p:cNvPicPr>
            <a:picLocks noChangeAspect="1"/>
          </p:cNvPicPr>
          <p:nvPr/>
        </p:nvPicPr>
        <p:blipFill>
          <a:blip r:embed="rId5"/>
          <a:stretch>
            <a:fillRect/>
          </a:stretch>
        </p:blipFill>
        <p:spPr>
          <a:xfrm>
            <a:off x="6309360" y="1463040"/>
            <a:ext cx="274320" cy="274320"/>
          </a:xfrm>
          <a:prstGeom prst="rect">
            <a:avLst/>
          </a:prstGeom>
        </p:spPr>
      </p:pic>
      <p:sp>
        <p:nvSpPr>
          <p:cNvPr id="28" name="Text 20"/>
          <p:cNvSpPr txBox="1"/>
          <p:nvPr/>
        </p:nvSpPr>
        <p:spPr>
          <a:xfrm>
            <a:off x="6858000" y="1371600"/>
            <a:ext cx="17373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Curiosity</a:t>
            </a:r>
            <a:endParaRPr lang="en-US" sz="1500" dirty="0"/>
          </a:p>
        </p:txBody>
      </p:sp>
      <p:sp>
        <p:nvSpPr>
          <p:cNvPr id="29" name="Text 21"/>
          <p:cNvSpPr txBox="1"/>
          <p:nvPr/>
        </p:nvSpPr>
        <p:spPr>
          <a:xfrm>
            <a:off x="6217920" y="2057400"/>
            <a:ext cx="22860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Intriguing offers or "you won" messages tempt a click.</a:t>
            </a:r>
            <a:endParaRPr lang="en-US" sz="1100" dirty="0"/>
          </a:p>
        </p:txBody>
      </p:sp>
      <p:sp>
        <p:nvSpPr>
          <p:cNvPr id="30" name="Shape 22"/>
          <p:cNvSpPr/>
          <p:nvPr/>
        </p:nvSpPr>
        <p:spPr>
          <a:xfrm>
            <a:off x="6035040" y="3017520"/>
            <a:ext cx="2651760" cy="1554480"/>
          </a:xfrm>
          <a:prstGeom prst="roundRect">
            <a:avLst>
              <a:gd name="adj" fmla="val 4706"/>
            </a:avLst>
          </a:prstGeom>
          <a:solidFill>
            <a:srgbClr val="111C33"/>
          </a:solidFill>
          <a:ln w="12700">
            <a:solidFill>
              <a:srgbClr val="1F3157"/>
            </a:solidFill>
            <a:prstDash val="solid"/>
          </a:ln>
        </p:spPr>
      </p:sp>
      <p:sp>
        <p:nvSpPr>
          <p:cNvPr id="31" name="Shape 23"/>
          <p:cNvSpPr/>
          <p:nvPr/>
        </p:nvSpPr>
        <p:spPr>
          <a:xfrm>
            <a:off x="6185916" y="3168396"/>
            <a:ext cx="521208" cy="521208"/>
          </a:xfrm>
          <a:prstGeom prst="ellipse">
            <a:avLst/>
          </a:prstGeom>
          <a:solidFill>
            <a:srgbClr val="00D4FF">
              <a:alpha val="15000"/>
            </a:srgbClr>
          </a:solidFill>
          <a:ln w="9525">
            <a:solidFill>
              <a:srgbClr val="00D4FF">
                <a:alpha val="50000"/>
              </a:srgbClr>
            </a:solidFill>
            <a:prstDash val="solid"/>
          </a:ln>
        </p:spPr>
      </p:sp>
      <p:pic>
        <p:nvPicPr>
          <p:cNvPr id="32" name="Image 5" descr="preencoded.png">    </p:cNvPr>
          <p:cNvPicPr>
            <a:picLocks noChangeAspect="1"/>
          </p:cNvPicPr>
          <p:nvPr/>
        </p:nvPicPr>
        <p:blipFill>
          <a:blip r:embed="rId6"/>
          <a:stretch>
            <a:fillRect/>
          </a:stretch>
        </p:blipFill>
        <p:spPr>
          <a:xfrm>
            <a:off x="6309360" y="3291840"/>
            <a:ext cx="274320" cy="274320"/>
          </a:xfrm>
          <a:prstGeom prst="rect">
            <a:avLst/>
          </a:prstGeom>
        </p:spPr>
      </p:pic>
      <p:sp>
        <p:nvSpPr>
          <p:cNvPr id="33" name="Text 24"/>
          <p:cNvSpPr txBox="1"/>
          <p:nvPr/>
        </p:nvSpPr>
        <p:spPr>
          <a:xfrm>
            <a:off x="6858000" y="3200400"/>
            <a:ext cx="17373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Trust</a:t>
            </a:r>
            <a:endParaRPr lang="en-US" sz="1500" dirty="0"/>
          </a:p>
        </p:txBody>
      </p:sp>
      <p:sp>
        <p:nvSpPr>
          <p:cNvPr id="34" name="Text 25"/>
          <p:cNvSpPr txBox="1"/>
          <p:nvPr/>
        </p:nvSpPr>
        <p:spPr>
          <a:xfrm>
            <a:off x="6217920" y="3886200"/>
            <a:ext cx="2286000" cy="6400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Familiar brands and names lower your guard.</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Realistic Phishing Scenarios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Illustrative scenarios, not verified historical incidents</a:t>
            </a:r>
            <a:endParaRPr lang="en-US" sz="1300" dirty="0"/>
          </a:p>
        </p:txBody>
      </p:sp>
      <p:sp>
        <p:nvSpPr>
          <p:cNvPr id="5" name="Shape 2"/>
          <p:cNvSpPr/>
          <p:nvPr/>
        </p:nvSpPr>
        <p:spPr>
          <a:xfrm>
            <a:off x="457200" y="1188720"/>
            <a:ext cx="2651760" cy="3246120"/>
          </a:xfrm>
          <a:prstGeom prst="roundRect">
            <a:avLst>
              <a:gd name="adj" fmla="val 2759"/>
            </a:avLst>
          </a:prstGeom>
          <a:solidFill>
            <a:srgbClr val="111C33"/>
          </a:solidFill>
          <a:ln w="12700">
            <a:solidFill>
              <a:srgbClr val="1F3157"/>
            </a:solidFill>
            <a:prstDash val="solid"/>
          </a:ln>
        </p:spPr>
      </p:sp>
      <p:sp>
        <p:nvSpPr>
          <p:cNvPr id="6" name="Shape 3"/>
          <p:cNvSpPr/>
          <p:nvPr/>
        </p:nvSpPr>
        <p:spPr>
          <a:xfrm>
            <a:off x="608076" y="1339596"/>
            <a:ext cx="521208" cy="521208"/>
          </a:xfrm>
          <a:prstGeom prst="ellipse">
            <a:avLst/>
          </a:prstGeom>
          <a:solidFill>
            <a:srgbClr val="00D4FF">
              <a:alpha val="15000"/>
            </a:srgbClr>
          </a:solidFill>
          <a:ln w="9525">
            <a:solidFill>
              <a:srgbClr val="00D4FF">
                <a:alpha val="50000"/>
              </a:srgbClr>
            </a:solidFill>
            <a:prstDash val="solid"/>
          </a:ln>
        </p:spPr>
      </p:sp>
      <p:pic>
        <p:nvPicPr>
          <p:cNvPr id="7" name="Image 0" descr="preencoded.png">    </p:cNvPr>
          <p:cNvPicPr>
            <a:picLocks noChangeAspect="1"/>
          </p:cNvPicPr>
          <p:nvPr/>
        </p:nvPicPr>
        <p:blipFill>
          <a:blip r:embed="rId1"/>
          <a:stretch>
            <a:fillRect/>
          </a:stretch>
        </p:blipFill>
        <p:spPr>
          <a:xfrm>
            <a:off x="731520" y="1463040"/>
            <a:ext cx="274320" cy="274320"/>
          </a:xfrm>
          <a:prstGeom prst="rect">
            <a:avLst/>
          </a:prstGeom>
        </p:spPr>
      </p:pic>
      <p:sp>
        <p:nvSpPr>
          <p:cNvPr id="8" name="Text 4"/>
          <p:cNvSpPr txBox="1"/>
          <p:nvPr/>
        </p:nvSpPr>
        <p:spPr>
          <a:xfrm>
            <a:off x="1280160" y="1344168"/>
            <a:ext cx="1737360" cy="182880"/>
          </a:xfrm>
          <a:prstGeom prst="rect">
            <a:avLst/>
          </a:prstGeom>
          <a:noFill/>
          <a:ln/>
        </p:spPr>
        <p:txBody>
          <a:bodyPr wrap="square" lIns="0" tIns="0" rIns="0" bIns="0" rtlCol="0" anchor="t"/>
          <a:lstStyle/>
          <a:p>
            <a:pPr indent="0" marL="0">
              <a:buNone/>
            </a:pPr>
            <a:r>
              <a:rPr lang="en-US" sz="1000" b="1" dirty="0">
                <a:solidFill>
                  <a:srgbClr val="94A3B8"/>
                </a:solidFill>
                <a:latin typeface="Calibri" pitchFamily="34" charset="0"/>
                <a:ea typeface="Calibri" pitchFamily="34" charset="-122"/>
                <a:cs typeface="Calibri" pitchFamily="34" charset="-120"/>
              </a:rPr>
              <a:t>CASE 1 • ILLUSTRATIVE</a:t>
            </a:r>
            <a:endParaRPr lang="en-US" sz="1000" dirty="0"/>
          </a:p>
        </p:txBody>
      </p:sp>
      <p:sp>
        <p:nvSpPr>
          <p:cNvPr id="9" name="Text 5"/>
          <p:cNvSpPr txBox="1"/>
          <p:nvPr/>
        </p:nvSpPr>
        <p:spPr>
          <a:xfrm>
            <a:off x="1280160" y="1536192"/>
            <a:ext cx="17830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Fake Banking Alert</a:t>
            </a:r>
            <a:endParaRPr lang="en-US" sz="1300" dirty="0"/>
          </a:p>
        </p:txBody>
      </p:sp>
      <p:sp>
        <p:nvSpPr>
          <p:cNvPr id="10" name="Text 6"/>
          <p:cNvSpPr txBox="1"/>
          <p:nvPr/>
        </p:nvSpPr>
        <p:spPr>
          <a:xfrm>
            <a:off x="640080" y="2057400"/>
            <a:ext cx="2286000" cy="182880"/>
          </a:xfrm>
          <a:prstGeom prst="rect">
            <a:avLst/>
          </a:prstGeom>
          <a:noFill/>
          <a:ln/>
        </p:spPr>
        <p:txBody>
          <a:bodyPr wrap="square" lIns="0" tIns="0" rIns="0" bIns="0" rtlCol="0" anchor="t"/>
          <a:lstStyle/>
          <a:p>
            <a:pPr indent="0" marL="0">
              <a:buNone/>
            </a:pPr>
            <a:r>
              <a:rPr lang="en-US" sz="1000" b="1" dirty="0">
                <a:solidFill>
                  <a:srgbClr val="EF4444"/>
                </a:solidFill>
                <a:latin typeface="Calibri" pitchFamily="34" charset="0"/>
                <a:ea typeface="Calibri" pitchFamily="34" charset="-122"/>
                <a:cs typeface="Calibri" pitchFamily="34" charset="-120"/>
              </a:rPr>
              <a:t>SUSPICIOUS MESSAGE</a:t>
            </a:r>
            <a:endParaRPr lang="en-US" sz="1000" dirty="0"/>
          </a:p>
        </p:txBody>
      </p:sp>
      <p:sp>
        <p:nvSpPr>
          <p:cNvPr id="11" name="Text 7"/>
          <p:cNvSpPr txBox="1"/>
          <p:nvPr/>
        </p:nvSpPr>
        <p:spPr>
          <a:xfrm>
            <a:off x="640080" y="2240280"/>
            <a:ext cx="2286000" cy="457200"/>
          </a:xfrm>
          <a:prstGeom prst="rect">
            <a:avLst/>
          </a:prstGeom>
          <a:noFill/>
          <a:ln/>
        </p:spPr>
        <p:txBody>
          <a:bodyPr wrap="square" lIns="0" tIns="0" rIns="0" bIns="0" rtlCol="0" anchor="t"/>
          <a:lstStyle/>
          <a:p>
            <a:pPr indent="0" marL="0">
              <a:buNone/>
            </a:pPr>
            <a:r>
              <a:rPr lang="en-US" sz="1100" i="1" dirty="0">
                <a:solidFill>
                  <a:srgbClr val="E2E8F0"/>
                </a:solidFill>
                <a:latin typeface="Calibri" pitchFamily="34" charset="0"/>
                <a:ea typeface="Calibri" pitchFamily="34" charset="-122"/>
                <a:cs typeface="Calibri" pitchFamily="34" charset="-120"/>
              </a:rPr>
              <a:t>"Your bank account is locked. Verify now: bank-secure.example"</a:t>
            </a:r>
            <a:endParaRPr lang="en-US" sz="1100" dirty="0"/>
          </a:p>
        </p:txBody>
      </p:sp>
      <p:sp>
        <p:nvSpPr>
          <p:cNvPr id="12" name="Text 8"/>
          <p:cNvSpPr txBox="1"/>
          <p:nvPr/>
        </p:nvSpPr>
        <p:spPr>
          <a:xfrm>
            <a:off x="640080" y="2834640"/>
            <a:ext cx="2286000" cy="182880"/>
          </a:xfrm>
          <a:prstGeom prst="rect">
            <a:avLst/>
          </a:prstGeom>
          <a:noFill/>
          <a:ln/>
        </p:spPr>
        <p:txBody>
          <a:bodyPr wrap="square" lIns="0" tIns="0" rIns="0" bIns="0" rtlCol="0" anchor="t"/>
          <a:lstStyle/>
          <a:p>
            <a:pPr indent="0" marL="0">
              <a:buNone/>
            </a:pPr>
            <a:r>
              <a:rPr lang="en-US" sz="1000" b="1" dirty="0">
                <a:solidFill>
                  <a:srgbClr val="F59E0B"/>
                </a:solidFill>
                <a:latin typeface="Calibri" pitchFamily="34" charset="0"/>
                <a:ea typeface="Calibri" pitchFamily="34" charset="-122"/>
                <a:cs typeface="Calibri" pitchFamily="34" charset="-120"/>
              </a:rPr>
              <a:t>WARNING SIGNS</a:t>
            </a:r>
            <a:endParaRPr lang="en-US" sz="1000" dirty="0"/>
          </a:p>
        </p:txBody>
      </p:sp>
      <p:sp>
        <p:nvSpPr>
          <p:cNvPr id="13" name="Text 9"/>
          <p:cNvSpPr txBox="1"/>
          <p:nvPr/>
        </p:nvSpPr>
        <p:spPr>
          <a:xfrm>
            <a:off x="640080" y="3017520"/>
            <a:ext cx="2286000" cy="36576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Urgent threat • Unknown link • Asks for login details</a:t>
            </a:r>
            <a:endParaRPr lang="en-US" sz="1100" dirty="0"/>
          </a:p>
        </p:txBody>
      </p:sp>
      <p:sp>
        <p:nvSpPr>
          <p:cNvPr id="14" name="Text 10"/>
          <p:cNvSpPr txBox="1"/>
          <p:nvPr/>
        </p:nvSpPr>
        <p:spPr>
          <a:xfrm>
            <a:off x="640080" y="3474720"/>
            <a:ext cx="2286000" cy="182880"/>
          </a:xfrm>
          <a:prstGeom prst="rect">
            <a:avLst/>
          </a:prstGeom>
          <a:noFill/>
          <a:ln/>
        </p:spPr>
        <p:txBody>
          <a:bodyPr wrap="square" lIns="0" tIns="0" rIns="0" bIns="0" rtlCol="0" anchor="t"/>
          <a:lstStyle/>
          <a:p>
            <a:pPr indent="0" marL="0">
              <a:buNone/>
            </a:pPr>
            <a:r>
              <a:rPr lang="en-US" sz="1000" b="1" dirty="0">
                <a:solidFill>
                  <a:srgbClr val="22C55E"/>
                </a:solidFill>
                <a:latin typeface="Calibri" pitchFamily="34" charset="0"/>
                <a:ea typeface="Calibri" pitchFamily="34" charset="-122"/>
                <a:cs typeface="Calibri" pitchFamily="34" charset="-120"/>
              </a:rPr>
              <a:t>SAFE RESPONSE</a:t>
            </a:r>
            <a:endParaRPr lang="en-US" sz="1000" dirty="0"/>
          </a:p>
        </p:txBody>
      </p:sp>
      <p:sp>
        <p:nvSpPr>
          <p:cNvPr id="15" name="Text 11"/>
          <p:cNvSpPr txBox="1"/>
          <p:nvPr/>
        </p:nvSpPr>
        <p:spPr>
          <a:xfrm>
            <a:off x="640080" y="3657600"/>
            <a:ext cx="2286000" cy="68580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Ignore the link. Open your bank's official app or call the number on your card.</a:t>
            </a:r>
            <a:endParaRPr lang="en-US" sz="1100" dirty="0"/>
          </a:p>
        </p:txBody>
      </p:sp>
      <p:sp>
        <p:nvSpPr>
          <p:cNvPr id="16" name="Shape 12"/>
          <p:cNvSpPr/>
          <p:nvPr/>
        </p:nvSpPr>
        <p:spPr>
          <a:xfrm>
            <a:off x="3246120" y="1188720"/>
            <a:ext cx="2651760" cy="3246120"/>
          </a:xfrm>
          <a:prstGeom prst="roundRect">
            <a:avLst>
              <a:gd name="adj" fmla="val 2759"/>
            </a:avLst>
          </a:prstGeom>
          <a:solidFill>
            <a:srgbClr val="111C33"/>
          </a:solidFill>
          <a:ln w="12700">
            <a:solidFill>
              <a:srgbClr val="1F3157"/>
            </a:solidFill>
            <a:prstDash val="solid"/>
          </a:ln>
        </p:spPr>
      </p:sp>
      <p:sp>
        <p:nvSpPr>
          <p:cNvPr id="17" name="Shape 13"/>
          <p:cNvSpPr/>
          <p:nvPr/>
        </p:nvSpPr>
        <p:spPr>
          <a:xfrm>
            <a:off x="3396996" y="1339596"/>
            <a:ext cx="521208" cy="521208"/>
          </a:xfrm>
          <a:prstGeom prst="ellipse">
            <a:avLst/>
          </a:prstGeom>
          <a:solidFill>
            <a:srgbClr val="00D4FF">
              <a:alpha val="15000"/>
            </a:srgbClr>
          </a:solidFill>
          <a:ln w="9525">
            <a:solidFill>
              <a:srgbClr val="00D4FF">
                <a:alpha val="50000"/>
              </a:srgbClr>
            </a:solidFill>
            <a:prstDash val="solid"/>
          </a:ln>
        </p:spPr>
      </p:sp>
      <p:pic>
        <p:nvPicPr>
          <p:cNvPr id="18" name="Image 1" descr="preencoded.png">    </p:cNvPr>
          <p:cNvPicPr>
            <a:picLocks noChangeAspect="1"/>
          </p:cNvPicPr>
          <p:nvPr/>
        </p:nvPicPr>
        <p:blipFill>
          <a:blip r:embed="rId2"/>
          <a:stretch>
            <a:fillRect/>
          </a:stretch>
        </p:blipFill>
        <p:spPr>
          <a:xfrm>
            <a:off x="3520440" y="1463040"/>
            <a:ext cx="274320" cy="274320"/>
          </a:xfrm>
          <a:prstGeom prst="rect">
            <a:avLst/>
          </a:prstGeom>
        </p:spPr>
      </p:pic>
      <p:sp>
        <p:nvSpPr>
          <p:cNvPr id="19" name="Text 14"/>
          <p:cNvSpPr txBox="1"/>
          <p:nvPr/>
        </p:nvSpPr>
        <p:spPr>
          <a:xfrm>
            <a:off x="4069080" y="1344168"/>
            <a:ext cx="1737360" cy="182880"/>
          </a:xfrm>
          <a:prstGeom prst="rect">
            <a:avLst/>
          </a:prstGeom>
          <a:noFill/>
          <a:ln/>
        </p:spPr>
        <p:txBody>
          <a:bodyPr wrap="square" lIns="0" tIns="0" rIns="0" bIns="0" rtlCol="0" anchor="t"/>
          <a:lstStyle/>
          <a:p>
            <a:pPr indent="0" marL="0">
              <a:buNone/>
            </a:pPr>
            <a:r>
              <a:rPr lang="en-US" sz="1000" b="1" dirty="0">
                <a:solidFill>
                  <a:srgbClr val="94A3B8"/>
                </a:solidFill>
                <a:latin typeface="Calibri" pitchFamily="34" charset="0"/>
                <a:ea typeface="Calibri" pitchFamily="34" charset="-122"/>
                <a:cs typeface="Calibri" pitchFamily="34" charset="-120"/>
              </a:rPr>
              <a:t>CASE 2 • ILLUSTRATIVE</a:t>
            </a:r>
            <a:endParaRPr lang="en-US" sz="1000" dirty="0"/>
          </a:p>
        </p:txBody>
      </p:sp>
      <p:sp>
        <p:nvSpPr>
          <p:cNvPr id="20" name="Text 15"/>
          <p:cNvSpPr txBox="1"/>
          <p:nvPr/>
        </p:nvSpPr>
        <p:spPr>
          <a:xfrm>
            <a:off x="4069080" y="1536192"/>
            <a:ext cx="17830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Fake Package Delivery</a:t>
            </a:r>
            <a:endParaRPr lang="en-US" sz="1300" dirty="0"/>
          </a:p>
        </p:txBody>
      </p:sp>
      <p:sp>
        <p:nvSpPr>
          <p:cNvPr id="21" name="Text 16"/>
          <p:cNvSpPr txBox="1"/>
          <p:nvPr/>
        </p:nvSpPr>
        <p:spPr>
          <a:xfrm>
            <a:off x="3429000" y="2057400"/>
            <a:ext cx="2286000" cy="182880"/>
          </a:xfrm>
          <a:prstGeom prst="rect">
            <a:avLst/>
          </a:prstGeom>
          <a:noFill/>
          <a:ln/>
        </p:spPr>
        <p:txBody>
          <a:bodyPr wrap="square" lIns="0" tIns="0" rIns="0" bIns="0" rtlCol="0" anchor="t"/>
          <a:lstStyle/>
          <a:p>
            <a:pPr indent="0" marL="0">
              <a:buNone/>
            </a:pPr>
            <a:r>
              <a:rPr lang="en-US" sz="1000" b="1" dirty="0">
                <a:solidFill>
                  <a:srgbClr val="EF4444"/>
                </a:solidFill>
                <a:latin typeface="Calibri" pitchFamily="34" charset="0"/>
                <a:ea typeface="Calibri" pitchFamily="34" charset="-122"/>
                <a:cs typeface="Calibri" pitchFamily="34" charset="-120"/>
              </a:rPr>
              <a:t>SUSPICIOUS MESSAGE</a:t>
            </a:r>
            <a:endParaRPr lang="en-US" sz="1000" dirty="0"/>
          </a:p>
        </p:txBody>
      </p:sp>
      <p:sp>
        <p:nvSpPr>
          <p:cNvPr id="22" name="Text 17"/>
          <p:cNvSpPr txBox="1"/>
          <p:nvPr/>
        </p:nvSpPr>
        <p:spPr>
          <a:xfrm>
            <a:off x="3429000" y="2240280"/>
            <a:ext cx="2286000" cy="457200"/>
          </a:xfrm>
          <a:prstGeom prst="rect">
            <a:avLst/>
          </a:prstGeom>
          <a:noFill/>
          <a:ln/>
        </p:spPr>
        <p:txBody>
          <a:bodyPr wrap="square" lIns="0" tIns="0" rIns="0" bIns="0" rtlCol="0" anchor="t"/>
          <a:lstStyle/>
          <a:p>
            <a:pPr indent="0" marL="0">
              <a:buNone/>
            </a:pPr>
            <a:r>
              <a:rPr lang="en-US" sz="1100" i="1" dirty="0">
                <a:solidFill>
                  <a:srgbClr val="E2E8F0"/>
                </a:solidFill>
                <a:latin typeface="Calibri" pitchFamily="34" charset="0"/>
                <a:ea typeface="Calibri" pitchFamily="34" charset="-122"/>
                <a:cs typeface="Calibri" pitchFamily="34" charset="-120"/>
              </a:rPr>
              <a:t>"Parcel on hold. Pay a small fee to reschedule: track-parcel.example"</a:t>
            </a:r>
            <a:endParaRPr lang="en-US" sz="1100" dirty="0"/>
          </a:p>
        </p:txBody>
      </p:sp>
      <p:sp>
        <p:nvSpPr>
          <p:cNvPr id="23" name="Text 18"/>
          <p:cNvSpPr txBox="1"/>
          <p:nvPr/>
        </p:nvSpPr>
        <p:spPr>
          <a:xfrm>
            <a:off x="3429000" y="2834640"/>
            <a:ext cx="2286000" cy="182880"/>
          </a:xfrm>
          <a:prstGeom prst="rect">
            <a:avLst/>
          </a:prstGeom>
          <a:noFill/>
          <a:ln/>
        </p:spPr>
        <p:txBody>
          <a:bodyPr wrap="square" lIns="0" tIns="0" rIns="0" bIns="0" rtlCol="0" anchor="t"/>
          <a:lstStyle/>
          <a:p>
            <a:pPr indent="0" marL="0">
              <a:buNone/>
            </a:pPr>
            <a:r>
              <a:rPr lang="en-US" sz="1000" b="1" dirty="0">
                <a:solidFill>
                  <a:srgbClr val="F59E0B"/>
                </a:solidFill>
                <a:latin typeface="Calibri" pitchFamily="34" charset="0"/>
                <a:ea typeface="Calibri" pitchFamily="34" charset="-122"/>
                <a:cs typeface="Calibri" pitchFamily="34" charset="-120"/>
              </a:rPr>
              <a:t>WARNING SIGNS</a:t>
            </a:r>
            <a:endParaRPr lang="en-US" sz="1000" dirty="0"/>
          </a:p>
        </p:txBody>
      </p:sp>
      <p:sp>
        <p:nvSpPr>
          <p:cNvPr id="24" name="Text 19"/>
          <p:cNvSpPr txBox="1"/>
          <p:nvPr/>
        </p:nvSpPr>
        <p:spPr>
          <a:xfrm>
            <a:off x="3429000" y="3017520"/>
            <a:ext cx="2286000" cy="36576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Unexpected delivery • Fee request • Odd domain</a:t>
            </a:r>
            <a:endParaRPr lang="en-US" sz="1100" dirty="0"/>
          </a:p>
        </p:txBody>
      </p:sp>
      <p:sp>
        <p:nvSpPr>
          <p:cNvPr id="25" name="Text 20"/>
          <p:cNvSpPr txBox="1"/>
          <p:nvPr/>
        </p:nvSpPr>
        <p:spPr>
          <a:xfrm>
            <a:off x="3429000" y="3474720"/>
            <a:ext cx="2286000" cy="182880"/>
          </a:xfrm>
          <a:prstGeom prst="rect">
            <a:avLst/>
          </a:prstGeom>
          <a:noFill/>
          <a:ln/>
        </p:spPr>
        <p:txBody>
          <a:bodyPr wrap="square" lIns="0" tIns="0" rIns="0" bIns="0" rtlCol="0" anchor="t"/>
          <a:lstStyle/>
          <a:p>
            <a:pPr indent="0" marL="0">
              <a:buNone/>
            </a:pPr>
            <a:r>
              <a:rPr lang="en-US" sz="1000" b="1" dirty="0">
                <a:solidFill>
                  <a:srgbClr val="22C55E"/>
                </a:solidFill>
                <a:latin typeface="Calibri" pitchFamily="34" charset="0"/>
                <a:ea typeface="Calibri" pitchFamily="34" charset="-122"/>
                <a:cs typeface="Calibri" pitchFamily="34" charset="-120"/>
              </a:rPr>
              <a:t>SAFE RESPONSE</a:t>
            </a:r>
            <a:endParaRPr lang="en-US" sz="1000" dirty="0"/>
          </a:p>
        </p:txBody>
      </p:sp>
      <p:sp>
        <p:nvSpPr>
          <p:cNvPr id="26" name="Text 21"/>
          <p:cNvSpPr txBox="1"/>
          <p:nvPr/>
        </p:nvSpPr>
        <p:spPr>
          <a:xfrm>
            <a:off x="3429000" y="3657600"/>
            <a:ext cx="2286000" cy="68580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Track only on the courier's official site or app. Never pay via a message link.</a:t>
            </a:r>
            <a:endParaRPr lang="en-US" sz="1100" dirty="0"/>
          </a:p>
        </p:txBody>
      </p:sp>
      <p:sp>
        <p:nvSpPr>
          <p:cNvPr id="27" name="Shape 22"/>
          <p:cNvSpPr/>
          <p:nvPr/>
        </p:nvSpPr>
        <p:spPr>
          <a:xfrm>
            <a:off x="6035040" y="1188720"/>
            <a:ext cx="2651760" cy="3246120"/>
          </a:xfrm>
          <a:prstGeom prst="roundRect">
            <a:avLst>
              <a:gd name="adj" fmla="val 2759"/>
            </a:avLst>
          </a:prstGeom>
          <a:solidFill>
            <a:srgbClr val="111C33"/>
          </a:solidFill>
          <a:ln w="12700">
            <a:solidFill>
              <a:srgbClr val="1F3157"/>
            </a:solidFill>
            <a:prstDash val="solid"/>
          </a:ln>
        </p:spPr>
      </p:sp>
      <p:sp>
        <p:nvSpPr>
          <p:cNvPr id="28" name="Shape 23"/>
          <p:cNvSpPr/>
          <p:nvPr/>
        </p:nvSpPr>
        <p:spPr>
          <a:xfrm>
            <a:off x="6185916" y="1339596"/>
            <a:ext cx="521208" cy="521208"/>
          </a:xfrm>
          <a:prstGeom prst="ellipse">
            <a:avLst/>
          </a:prstGeom>
          <a:solidFill>
            <a:srgbClr val="00D4FF">
              <a:alpha val="15000"/>
            </a:srgbClr>
          </a:solidFill>
          <a:ln w="9525">
            <a:solidFill>
              <a:srgbClr val="00D4FF">
                <a:alpha val="50000"/>
              </a:srgbClr>
            </a:solidFill>
            <a:prstDash val="solid"/>
          </a:ln>
        </p:spPr>
      </p:sp>
      <p:pic>
        <p:nvPicPr>
          <p:cNvPr id="29" name="Image 2" descr="preencoded.png">    </p:cNvPr>
          <p:cNvPicPr>
            <a:picLocks noChangeAspect="1"/>
          </p:cNvPicPr>
          <p:nvPr/>
        </p:nvPicPr>
        <p:blipFill>
          <a:blip r:embed="rId3"/>
          <a:stretch>
            <a:fillRect/>
          </a:stretch>
        </p:blipFill>
        <p:spPr>
          <a:xfrm>
            <a:off x="6309360" y="1463040"/>
            <a:ext cx="274320" cy="274320"/>
          </a:xfrm>
          <a:prstGeom prst="rect">
            <a:avLst/>
          </a:prstGeom>
        </p:spPr>
      </p:pic>
      <p:sp>
        <p:nvSpPr>
          <p:cNvPr id="30" name="Text 24"/>
          <p:cNvSpPr txBox="1"/>
          <p:nvPr/>
        </p:nvSpPr>
        <p:spPr>
          <a:xfrm>
            <a:off x="6858000" y="1344168"/>
            <a:ext cx="1737360" cy="182880"/>
          </a:xfrm>
          <a:prstGeom prst="rect">
            <a:avLst/>
          </a:prstGeom>
          <a:noFill/>
          <a:ln/>
        </p:spPr>
        <p:txBody>
          <a:bodyPr wrap="square" lIns="0" tIns="0" rIns="0" bIns="0" rtlCol="0" anchor="t"/>
          <a:lstStyle/>
          <a:p>
            <a:pPr indent="0" marL="0">
              <a:buNone/>
            </a:pPr>
            <a:r>
              <a:rPr lang="en-US" sz="1000" b="1" dirty="0">
                <a:solidFill>
                  <a:srgbClr val="94A3B8"/>
                </a:solidFill>
                <a:latin typeface="Calibri" pitchFamily="34" charset="0"/>
                <a:ea typeface="Calibri" pitchFamily="34" charset="-122"/>
                <a:cs typeface="Calibri" pitchFamily="34" charset="-120"/>
              </a:rPr>
              <a:t>CASE 3 • ILLUSTRATIVE</a:t>
            </a:r>
            <a:endParaRPr lang="en-US" sz="1000" dirty="0"/>
          </a:p>
        </p:txBody>
      </p:sp>
      <p:sp>
        <p:nvSpPr>
          <p:cNvPr id="31" name="Text 25"/>
          <p:cNvSpPr txBox="1"/>
          <p:nvPr/>
        </p:nvSpPr>
        <p:spPr>
          <a:xfrm>
            <a:off x="6858000" y="1536192"/>
            <a:ext cx="178308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Fake Student Portal</a:t>
            </a:r>
            <a:endParaRPr lang="en-US" sz="1300" dirty="0"/>
          </a:p>
        </p:txBody>
      </p:sp>
      <p:sp>
        <p:nvSpPr>
          <p:cNvPr id="32" name="Text 26"/>
          <p:cNvSpPr txBox="1"/>
          <p:nvPr/>
        </p:nvSpPr>
        <p:spPr>
          <a:xfrm>
            <a:off x="6217920" y="2057400"/>
            <a:ext cx="2286000" cy="182880"/>
          </a:xfrm>
          <a:prstGeom prst="rect">
            <a:avLst/>
          </a:prstGeom>
          <a:noFill/>
          <a:ln/>
        </p:spPr>
        <p:txBody>
          <a:bodyPr wrap="square" lIns="0" tIns="0" rIns="0" bIns="0" rtlCol="0" anchor="t"/>
          <a:lstStyle/>
          <a:p>
            <a:pPr indent="0" marL="0">
              <a:buNone/>
            </a:pPr>
            <a:r>
              <a:rPr lang="en-US" sz="1000" b="1" dirty="0">
                <a:solidFill>
                  <a:srgbClr val="EF4444"/>
                </a:solidFill>
                <a:latin typeface="Calibri" pitchFamily="34" charset="0"/>
                <a:ea typeface="Calibri" pitchFamily="34" charset="-122"/>
                <a:cs typeface="Calibri" pitchFamily="34" charset="-120"/>
              </a:rPr>
              <a:t>SUSPICIOUS MESSAGE</a:t>
            </a:r>
            <a:endParaRPr lang="en-US" sz="1000" dirty="0"/>
          </a:p>
        </p:txBody>
      </p:sp>
      <p:sp>
        <p:nvSpPr>
          <p:cNvPr id="33" name="Text 27"/>
          <p:cNvSpPr txBox="1"/>
          <p:nvPr/>
        </p:nvSpPr>
        <p:spPr>
          <a:xfrm>
            <a:off x="6217920" y="2240280"/>
            <a:ext cx="2286000" cy="457200"/>
          </a:xfrm>
          <a:prstGeom prst="rect">
            <a:avLst/>
          </a:prstGeom>
          <a:noFill/>
          <a:ln/>
        </p:spPr>
        <p:txBody>
          <a:bodyPr wrap="square" lIns="0" tIns="0" rIns="0" bIns="0" rtlCol="0" anchor="t"/>
          <a:lstStyle/>
          <a:p>
            <a:pPr indent="0" marL="0">
              <a:buNone/>
            </a:pPr>
            <a:r>
              <a:rPr lang="en-US" sz="1100" i="1" dirty="0">
                <a:solidFill>
                  <a:srgbClr val="E2E8F0"/>
                </a:solidFill>
                <a:latin typeface="Calibri" pitchFamily="34" charset="0"/>
                <a:ea typeface="Calibri" pitchFamily="34" charset="-122"/>
                <a:cs typeface="Calibri" pitchFamily="34" charset="-120"/>
              </a:rPr>
              <a:t>"Student portal expires today. Re-login: college-portal-login.example"</a:t>
            </a:r>
            <a:endParaRPr lang="en-US" sz="1100" dirty="0"/>
          </a:p>
        </p:txBody>
      </p:sp>
      <p:sp>
        <p:nvSpPr>
          <p:cNvPr id="34" name="Text 28"/>
          <p:cNvSpPr txBox="1"/>
          <p:nvPr/>
        </p:nvSpPr>
        <p:spPr>
          <a:xfrm>
            <a:off x="6217920" y="2834640"/>
            <a:ext cx="2286000" cy="182880"/>
          </a:xfrm>
          <a:prstGeom prst="rect">
            <a:avLst/>
          </a:prstGeom>
          <a:noFill/>
          <a:ln/>
        </p:spPr>
        <p:txBody>
          <a:bodyPr wrap="square" lIns="0" tIns="0" rIns="0" bIns="0" rtlCol="0" anchor="t"/>
          <a:lstStyle/>
          <a:p>
            <a:pPr indent="0" marL="0">
              <a:buNone/>
            </a:pPr>
            <a:r>
              <a:rPr lang="en-US" sz="1000" b="1" dirty="0">
                <a:solidFill>
                  <a:srgbClr val="F59E0B"/>
                </a:solidFill>
                <a:latin typeface="Calibri" pitchFamily="34" charset="0"/>
                <a:ea typeface="Calibri" pitchFamily="34" charset="-122"/>
                <a:cs typeface="Calibri" pitchFamily="34" charset="-120"/>
              </a:rPr>
              <a:t>WARNING SIGNS</a:t>
            </a:r>
            <a:endParaRPr lang="en-US" sz="1000" dirty="0"/>
          </a:p>
        </p:txBody>
      </p:sp>
      <p:sp>
        <p:nvSpPr>
          <p:cNvPr id="35" name="Text 29"/>
          <p:cNvSpPr txBox="1"/>
          <p:nvPr/>
        </p:nvSpPr>
        <p:spPr>
          <a:xfrm>
            <a:off x="6217920" y="3017520"/>
            <a:ext cx="2286000" cy="36576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Fake deadline • Lookalike portal • Credential request</a:t>
            </a:r>
            <a:endParaRPr lang="en-US" sz="1100" dirty="0"/>
          </a:p>
        </p:txBody>
      </p:sp>
      <p:sp>
        <p:nvSpPr>
          <p:cNvPr id="36" name="Text 30"/>
          <p:cNvSpPr txBox="1"/>
          <p:nvPr/>
        </p:nvSpPr>
        <p:spPr>
          <a:xfrm>
            <a:off x="6217920" y="3474720"/>
            <a:ext cx="2286000" cy="182880"/>
          </a:xfrm>
          <a:prstGeom prst="rect">
            <a:avLst/>
          </a:prstGeom>
          <a:noFill/>
          <a:ln/>
        </p:spPr>
        <p:txBody>
          <a:bodyPr wrap="square" lIns="0" tIns="0" rIns="0" bIns="0" rtlCol="0" anchor="t"/>
          <a:lstStyle/>
          <a:p>
            <a:pPr indent="0" marL="0">
              <a:buNone/>
            </a:pPr>
            <a:r>
              <a:rPr lang="en-US" sz="1000" b="1" dirty="0">
                <a:solidFill>
                  <a:srgbClr val="22C55E"/>
                </a:solidFill>
                <a:latin typeface="Calibri" pitchFamily="34" charset="0"/>
                <a:ea typeface="Calibri" pitchFamily="34" charset="-122"/>
                <a:cs typeface="Calibri" pitchFamily="34" charset="-120"/>
              </a:rPr>
              <a:t>SAFE RESPONSE</a:t>
            </a:r>
            <a:endParaRPr lang="en-US" sz="1000" dirty="0"/>
          </a:p>
        </p:txBody>
      </p:sp>
      <p:sp>
        <p:nvSpPr>
          <p:cNvPr id="37" name="Text 31"/>
          <p:cNvSpPr txBox="1"/>
          <p:nvPr/>
        </p:nvSpPr>
        <p:spPr>
          <a:xfrm>
            <a:off x="6217920" y="3657600"/>
            <a:ext cx="2286000" cy="685800"/>
          </a:xfrm>
          <a:prstGeom prst="rect">
            <a:avLst/>
          </a:prstGeom>
          <a:noFill/>
          <a:ln/>
        </p:spPr>
        <p:txBody>
          <a:bodyPr wrap="square" lIns="0" tIns="0" rIns="0" bIns="0" rtlCol="0" anchor="t"/>
          <a:lstStyle/>
          <a:p>
            <a:pPr indent="0" marL="0">
              <a:buNone/>
            </a:pPr>
            <a:r>
              <a:rPr lang="en-US" sz="1100" dirty="0">
                <a:solidFill>
                  <a:srgbClr val="E2E8F0"/>
                </a:solidFill>
                <a:latin typeface="Calibri" pitchFamily="34" charset="0"/>
                <a:ea typeface="Calibri" pitchFamily="34" charset="-122"/>
                <a:cs typeface="Calibri" pitchFamily="34" charset="-120"/>
              </a:rPr>
              <a:t>Type the official portal address yourself and inform the IT helpdesk.</a:t>
            </a:r>
            <a:endParaRPr lang="en-US" sz="1100" dirty="0"/>
          </a:p>
        </p:txBody>
      </p:sp>
      <p:sp>
        <p:nvSpPr>
          <p:cNvPr id="38" name="Text 32"/>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000" i="1" dirty="0">
                <a:solidFill>
                  <a:srgbClr val="94A3B8"/>
                </a:solidFill>
                <a:latin typeface="Calibri" pitchFamily="34" charset="0"/>
                <a:ea typeface="Calibri" pitchFamily="34" charset="-122"/>
                <a:cs typeface="Calibri" pitchFamily="34" charset="-120"/>
              </a:rPr>
              <a:t>All scenarios are fictional and created for training purposes.</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Phishing Prevention Strategies</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A seven-point security checklist</a:t>
            </a:r>
            <a:endParaRPr lang="en-US" sz="1300" dirty="0"/>
          </a:p>
        </p:txBody>
      </p:sp>
      <p:sp>
        <p:nvSpPr>
          <p:cNvPr id="5" name="Shape 2"/>
          <p:cNvSpPr/>
          <p:nvPr/>
        </p:nvSpPr>
        <p:spPr>
          <a:xfrm>
            <a:off x="3246120" y="1417320"/>
            <a:ext cx="2651760" cy="2651760"/>
          </a:xfrm>
          <a:prstGeom prst="ellipse">
            <a:avLst/>
          </a:prstGeom>
          <a:solidFill>
            <a:srgbClr val="00D4FF">
              <a:alpha val="6000"/>
            </a:srgbClr>
          </a:solidFill>
          <a:ln w="6350">
            <a:solidFill>
              <a:srgbClr val="00D4FF">
                <a:alpha val="20000"/>
              </a:srgbClr>
            </a:solidFill>
            <a:prstDash val="solid"/>
          </a:ln>
        </p:spPr>
      </p:sp>
      <p:sp>
        <p:nvSpPr>
          <p:cNvPr id="6" name="Shape 3"/>
          <p:cNvSpPr/>
          <p:nvPr/>
        </p:nvSpPr>
        <p:spPr>
          <a:xfrm>
            <a:off x="3537814" y="1709014"/>
            <a:ext cx="2068373" cy="2068373"/>
          </a:xfrm>
          <a:prstGeom prst="ellipse">
            <a:avLst/>
          </a:prstGeom>
          <a:solidFill>
            <a:srgbClr val="00D4FF">
              <a:alpha val="11000"/>
            </a:srgbClr>
          </a:solidFill>
          <a:ln w="6350">
            <a:solidFill>
              <a:srgbClr val="00D4FF">
                <a:alpha val="20000"/>
              </a:srgbClr>
            </a:solidFill>
            <a:prstDash val="solid"/>
          </a:ln>
        </p:spPr>
      </p:sp>
      <p:sp>
        <p:nvSpPr>
          <p:cNvPr id="7" name="Shape 4"/>
          <p:cNvSpPr/>
          <p:nvPr/>
        </p:nvSpPr>
        <p:spPr>
          <a:xfrm>
            <a:off x="3829507" y="2000707"/>
            <a:ext cx="1484986" cy="1484986"/>
          </a:xfrm>
          <a:prstGeom prst="ellipse">
            <a:avLst/>
          </a:prstGeom>
          <a:solidFill>
            <a:srgbClr val="00D4FF">
              <a:alpha val="16000"/>
            </a:srgbClr>
          </a:solidFill>
          <a:ln w="6350">
            <a:solidFill>
              <a:srgbClr val="00D4FF">
                <a:alpha val="20000"/>
              </a:srgbClr>
            </a:solidFill>
            <a:prstDash val="solid"/>
          </a:ln>
        </p:spPr>
      </p:sp>
      <p:pic>
        <p:nvPicPr>
          <p:cNvPr id="8" name="Image 0" descr="preencoded.png">    </p:cNvPr>
          <p:cNvPicPr>
            <a:picLocks noChangeAspect="1"/>
          </p:cNvPicPr>
          <p:nvPr/>
        </p:nvPicPr>
        <p:blipFill>
          <a:blip r:embed="rId1"/>
          <a:stretch>
            <a:fillRect/>
          </a:stretch>
        </p:blipFill>
        <p:spPr>
          <a:xfrm>
            <a:off x="3977640" y="2103120"/>
            <a:ext cx="1188720" cy="1188720"/>
          </a:xfrm>
          <a:prstGeom prst="rect">
            <a:avLst/>
          </a:prstGeom>
        </p:spPr>
      </p:pic>
      <p:sp>
        <p:nvSpPr>
          <p:cNvPr id="9" name="Text 5"/>
          <p:cNvSpPr txBox="1"/>
          <p:nvPr/>
        </p:nvSpPr>
        <p:spPr>
          <a:xfrm>
            <a:off x="3566160" y="3520440"/>
            <a:ext cx="2011680" cy="274320"/>
          </a:xfrm>
          <a:prstGeom prst="rect">
            <a:avLst/>
          </a:prstGeom>
          <a:noFill/>
          <a:ln/>
        </p:spPr>
        <p:txBody>
          <a:bodyPr wrap="square" lIns="0" tIns="0" rIns="0" bIns="0" rtlCol="0" anchor="t"/>
          <a:lstStyle/>
          <a:p>
            <a:pPr algn="ctr" indent="0" marL="0">
              <a:buNone/>
            </a:pPr>
            <a:r>
              <a:rPr lang="en-US" sz="1200" b="1" spc="200" kern="0" dirty="0">
                <a:solidFill>
                  <a:srgbClr val="00D4FF"/>
                </a:solidFill>
                <a:latin typeface="Calibri" pitchFamily="34" charset="0"/>
                <a:ea typeface="Calibri" pitchFamily="34" charset="-122"/>
                <a:cs typeface="Calibri" pitchFamily="34" charset="-120"/>
              </a:rPr>
              <a:t>7-POINT CHECKLIST</a:t>
            </a:r>
            <a:endParaRPr lang="en-US" sz="1200" dirty="0"/>
          </a:p>
        </p:txBody>
      </p:sp>
      <p:sp>
        <p:nvSpPr>
          <p:cNvPr id="10" name="Shape 6"/>
          <p:cNvSpPr/>
          <p:nvPr/>
        </p:nvSpPr>
        <p:spPr>
          <a:xfrm>
            <a:off x="457200" y="1188720"/>
            <a:ext cx="3017520" cy="731520"/>
          </a:xfrm>
          <a:prstGeom prst="roundRect">
            <a:avLst>
              <a:gd name="adj" fmla="val 10000"/>
            </a:avLst>
          </a:prstGeom>
          <a:solidFill>
            <a:srgbClr val="111C33"/>
          </a:solidFill>
          <a:ln w="12700">
            <a:solidFill>
              <a:srgbClr val="1F3157"/>
            </a:solidFill>
            <a:prstDash val="solid"/>
          </a:ln>
        </p:spPr>
      </p:sp>
      <p:sp>
        <p:nvSpPr>
          <p:cNvPr id="11" name="Shape 7"/>
          <p:cNvSpPr/>
          <p:nvPr/>
        </p:nvSpPr>
        <p:spPr>
          <a:xfrm>
            <a:off x="667512" y="1399032"/>
            <a:ext cx="310896" cy="310896"/>
          </a:xfrm>
          <a:prstGeom prst="ellipse">
            <a:avLst/>
          </a:prstGeom>
          <a:solidFill>
            <a:srgbClr val="00D4FF"/>
          </a:solidFill>
          <a:ln w="12700">
            <a:solidFill>
              <a:srgbClr val="00D4FF"/>
            </a:solidFill>
            <a:prstDash val="solid"/>
          </a:ln>
        </p:spPr>
      </p:sp>
      <p:sp>
        <p:nvSpPr>
          <p:cNvPr id="12" name="Text 8"/>
          <p:cNvSpPr txBox="1"/>
          <p:nvPr/>
        </p:nvSpPr>
        <p:spPr>
          <a:xfrm>
            <a:off x="667512" y="1399032"/>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1</a:t>
            </a:r>
            <a:endParaRPr lang="en-US" sz="1200" dirty="0"/>
          </a:p>
        </p:txBody>
      </p:sp>
      <p:sp>
        <p:nvSpPr>
          <p:cNvPr id="13" name="Text 9"/>
          <p:cNvSpPr txBox="1"/>
          <p:nvPr/>
        </p:nvSpPr>
        <p:spPr>
          <a:xfrm>
            <a:off x="1143000" y="1188720"/>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Verify sender identities</a:t>
            </a:r>
            <a:endParaRPr lang="en-US" sz="1300" dirty="0"/>
          </a:p>
        </p:txBody>
      </p:sp>
      <p:pic>
        <p:nvPicPr>
          <p:cNvPr id="14" name="Image 1" descr="preencoded.png">    </p:cNvPr>
          <p:cNvPicPr>
            <a:picLocks noChangeAspect="1"/>
          </p:cNvPicPr>
          <p:nvPr/>
        </p:nvPicPr>
        <p:blipFill>
          <a:blip r:embed="rId2"/>
          <a:stretch>
            <a:fillRect/>
          </a:stretch>
        </p:blipFill>
        <p:spPr>
          <a:xfrm>
            <a:off x="3108960" y="1463040"/>
            <a:ext cx="182880" cy="182880"/>
          </a:xfrm>
          <a:prstGeom prst="rect">
            <a:avLst/>
          </a:prstGeom>
        </p:spPr>
      </p:pic>
      <p:sp>
        <p:nvSpPr>
          <p:cNvPr id="15" name="Shape 10"/>
          <p:cNvSpPr/>
          <p:nvPr/>
        </p:nvSpPr>
        <p:spPr>
          <a:xfrm>
            <a:off x="457200" y="2039112"/>
            <a:ext cx="3017520" cy="731520"/>
          </a:xfrm>
          <a:prstGeom prst="roundRect">
            <a:avLst>
              <a:gd name="adj" fmla="val 10000"/>
            </a:avLst>
          </a:prstGeom>
          <a:solidFill>
            <a:srgbClr val="111C33"/>
          </a:solidFill>
          <a:ln w="12700">
            <a:solidFill>
              <a:srgbClr val="1F3157"/>
            </a:solidFill>
            <a:prstDash val="solid"/>
          </a:ln>
        </p:spPr>
      </p:sp>
      <p:sp>
        <p:nvSpPr>
          <p:cNvPr id="16" name="Shape 11"/>
          <p:cNvSpPr/>
          <p:nvPr/>
        </p:nvSpPr>
        <p:spPr>
          <a:xfrm>
            <a:off x="667512" y="2249424"/>
            <a:ext cx="310896" cy="310896"/>
          </a:xfrm>
          <a:prstGeom prst="ellipse">
            <a:avLst/>
          </a:prstGeom>
          <a:solidFill>
            <a:srgbClr val="00D4FF"/>
          </a:solidFill>
          <a:ln w="12700">
            <a:solidFill>
              <a:srgbClr val="00D4FF"/>
            </a:solidFill>
            <a:prstDash val="solid"/>
          </a:ln>
        </p:spPr>
      </p:sp>
      <p:sp>
        <p:nvSpPr>
          <p:cNvPr id="17" name="Text 12"/>
          <p:cNvSpPr txBox="1"/>
          <p:nvPr/>
        </p:nvSpPr>
        <p:spPr>
          <a:xfrm>
            <a:off x="667512" y="2249424"/>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2</a:t>
            </a:r>
            <a:endParaRPr lang="en-US" sz="1200" dirty="0"/>
          </a:p>
        </p:txBody>
      </p:sp>
      <p:sp>
        <p:nvSpPr>
          <p:cNvPr id="18" name="Text 13"/>
          <p:cNvSpPr txBox="1"/>
          <p:nvPr/>
        </p:nvSpPr>
        <p:spPr>
          <a:xfrm>
            <a:off x="1143000" y="2039112"/>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Avoid suspicious links</a:t>
            </a:r>
            <a:endParaRPr lang="en-US" sz="1300" dirty="0"/>
          </a:p>
        </p:txBody>
      </p:sp>
      <p:pic>
        <p:nvPicPr>
          <p:cNvPr id="19" name="Image 2" descr="preencoded.png">    </p:cNvPr>
          <p:cNvPicPr>
            <a:picLocks noChangeAspect="1"/>
          </p:cNvPicPr>
          <p:nvPr/>
        </p:nvPicPr>
        <p:blipFill>
          <a:blip r:embed="rId3"/>
          <a:stretch>
            <a:fillRect/>
          </a:stretch>
        </p:blipFill>
        <p:spPr>
          <a:xfrm>
            <a:off x="3108960" y="2313432"/>
            <a:ext cx="182880" cy="182880"/>
          </a:xfrm>
          <a:prstGeom prst="rect">
            <a:avLst/>
          </a:prstGeom>
        </p:spPr>
      </p:pic>
      <p:sp>
        <p:nvSpPr>
          <p:cNvPr id="20" name="Shape 14"/>
          <p:cNvSpPr/>
          <p:nvPr/>
        </p:nvSpPr>
        <p:spPr>
          <a:xfrm>
            <a:off x="457200" y="2889504"/>
            <a:ext cx="3017520" cy="731520"/>
          </a:xfrm>
          <a:prstGeom prst="roundRect">
            <a:avLst>
              <a:gd name="adj" fmla="val 10000"/>
            </a:avLst>
          </a:prstGeom>
          <a:solidFill>
            <a:srgbClr val="111C33"/>
          </a:solidFill>
          <a:ln w="12700">
            <a:solidFill>
              <a:srgbClr val="1F3157"/>
            </a:solidFill>
            <a:prstDash val="solid"/>
          </a:ln>
        </p:spPr>
      </p:sp>
      <p:sp>
        <p:nvSpPr>
          <p:cNvPr id="21" name="Shape 15"/>
          <p:cNvSpPr/>
          <p:nvPr/>
        </p:nvSpPr>
        <p:spPr>
          <a:xfrm>
            <a:off x="667512" y="3099816"/>
            <a:ext cx="310896" cy="310896"/>
          </a:xfrm>
          <a:prstGeom prst="ellipse">
            <a:avLst/>
          </a:prstGeom>
          <a:solidFill>
            <a:srgbClr val="00D4FF"/>
          </a:solidFill>
          <a:ln w="12700">
            <a:solidFill>
              <a:srgbClr val="00D4FF"/>
            </a:solidFill>
            <a:prstDash val="solid"/>
          </a:ln>
        </p:spPr>
      </p:sp>
      <p:sp>
        <p:nvSpPr>
          <p:cNvPr id="22" name="Text 16"/>
          <p:cNvSpPr txBox="1"/>
          <p:nvPr/>
        </p:nvSpPr>
        <p:spPr>
          <a:xfrm>
            <a:off x="667512" y="3099816"/>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3</a:t>
            </a:r>
            <a:endParaRPr lang="en-US" sz="1200" dirty="0"/>
          </a:p>
        </p:txBody>
      </p:sp>
      <p:sp>
        <p:nvSpPr>
          <p:cNvPr id="23" name="Text 17"/>
          <p:cNvSpPr txBox="1"/>
          <p:nvPr/>
        </p:nvSpPr>
        <p:spPr>
          <a:xfrm>
            <a:off x="1143000" y="2889504"/>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strong, unique passwords</a:t>
            </a:r>
            <a:endParaRPr lang="en-US" sz="1300" dirty="0"/>
          </a:p>
        </p:txBody>
      </p:sp>
      <p:pic>
        <p:nvPicPr>
          <p:cNvPr id="24" name="Image 3" descr="preencoded.png">    </p:cNvPr>
          <p:cNvPicPr>
            <a:picLocks noChangeAspect="1"/>
          </p:cNvPicPr>
          <p:nvPr/>
        </p:nvPicPr>
        <p:blipFill>
          <a:blip r:embed="rId4"/>
          <a:stretch>
            <a:fillRect/>
          </a:stretch>
        </p:blipFill>
        <p:spPr>
          <a:xfrm>
            <a:off x="3108960" y="3163824"/>
            <a:ext cx="182880" cy="182880"/>
          </a:xfrm>
          <a:prstGeom prst="rect">
            <a:avLst/>
          </a:prstGeom>
        </p:spPr>
      </p:pic>
      <p:sp>
        <p:nvSpPr>
          <p:cNvPr id="25" name="Shape 18"/>
          <p:cNvSpPr/>
          <p:nvPr/>
        </p:nvSpPr>
        <p:spPr>
          <a:xfrm>
            <a:off x="457200" y="3739896"/>
            <a:ext cx="3017520" cy="731520"/>
          </a:xfrm>
          <a:prstGeom prst="roundRect">
            <a:avLst>
              <a:gd name="adj" fmla="val 10000"/>
            </a:avLst>
          </a:prstGeom>
          <a:solidFill>
            <a:srgbClr val="111C33"/>
          </a:solidFill>
          <a:ln w="12700">
            <a:solidFill>
              <a:srgbClr val="1F3157"/>
            </a:solidFill>
            <a:prstDash val="solid"/>
          </a:ln>
        </p:spPr>
      </p:sp>
      <p:sp>
        <p:nvSpPr>
          <p:cNvPr id="26" name="Shape 19"/>
          <p:cNvSpPr/>
          <p:nvPr/>
        </p:nvSpPr>
        <p:spPr>
          <a:xfrm>
            <a:off x="667512" y="3950208"/>
            <a:ext cx="310896" cy="310896"/>
          </a:xfrm>
          <a:prstGeom prst="ellipse">
            <a:avLst/>
          </a:prstGeom>
          <a:solidFill>
            <a:srgbClr val="00D4FF"/>
          </a:solidFill>
          <a:ln w="12700">
            <a:solidFill>
              <a:srgbClr val="00D4FF"/>
            </a:solidFill>
            <a:prstDash val="solid"/>
          </a:ln>
        </p:spPr>
      </p:sp>
      <p:sp>
        <p:nvSpPr>
          <p:cNvPr id="27" name="Text 20"/>
          <p:cNvSpPr txBox="1"/>
          <p:nvPr/>
        </p:nvSpPr>
        <p:spPr>
          <a:xfrm>
            <a:off x="667512" y="3950208"/>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4</a:t>
            </a:r>
            <a:endParaRPr lang="en-US" sz="1200" dirty="0"/>
          </a:p>
        </p:txBody>
      </p:sp>
      <p:sp>
        <p:nvSpPr>
          <p:cNvPr id="28" name="Text 21"/>
          <p:cNvSpPr txBox="1"/>
          <p:nvPr/>
        </p:nvSpPr>
        <p:spPr>
          <a:xfrm>
            <a:off x="1143000" y="3739896"/>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Enable multi-factor authentication</a:t>
            </a:r>
            <a:endParaRPr lang="en-US" sz="1300" dirty="0"/>
          </a:p>
        </p:txBody>
      </p:sp>
      <p:pic>
        <p:nvPicPr>
          <p:cNvPr id="29" name="Image 4" descr="preencoded.png">    </p:cNvPr>
          <p:cNvPicPr>
            <a:picLocks noChangeAspect="1"/>
          </p:cNvPicPr>
          <p:nvPr/>
        </p:nvPicPr>
        <p:blipFill>
          <a:blip r:embed="rId5"/>
          <a:stretch>
            <a:fillRect/>
          </a:stretch>
        </p:blipFill>
        <p:spPr>
          <a:xfrm>
            <a:off x="3108960" y="4014216"/>
            <a:ext cx="182880" cy="182880"/>
          </a:xfrm>
          <a:prstGeom prst="rect">
            <a:avLst/>
          </a:prstGeom>
        </p:spPr>
      </p:pic>
      <p:sp>
        <p:nvSpPr>
          <p:cNvPr id="30" name="Shape 22"/>
          <p:cNvSpPr/>
          <p:nvPr/>
        </p:nvSpPr>
        <p:spPr>
          <a:xfrm>
            <a:off x="5669280" y="1609344"/>
            <a:ext cx="3017520" cy="731520"/>
          </a:xfrm>
          <a:prstGeom prst="roundRect">
            <a:avLst>
              <a:gd name="adj" fmla="val 10000"/>
            </a:avLst>
          </a:prstGeom>
          <a:solidFill>
            <a:srgbClr val="111C33"/>
          </a:solidFill>
          <a:ln w="12700">
            <a:solidFill>
              <a:srgbClr val="1F3157"/>
            </a:solidFill>
            <a:prstDash val="solid"/>
          </a:ln>
        </p:spPr>
      </p:sp>
      <p:sp>
        <p:nvSpPr>
          <p:cNvPr id="31" name="Shape 23"/>
          <p:cNvSpPr/>
          <p:nvPr/>
        </p:nvSpPr>
        <p:spPr>
          <a:xfrm>
            <a:off x="5879592" y="1819656"/>
            <a:ext cx="310896" cy="310896"/>
          </a:xfrm>
          <a:prstGeom prst="ellipse">
            <a:avLst/>
          </a:prstGeom>
          <a:solidFill>
            <a:srgbClr val="00D4FF"/>
          </a:solidFill>
          <a:ln w="12700">
            <a:solidFill>
              <a:srgbClr val="00D4FF"/>
            </a:solidFill>
            <a:prstDash val="solid"/>
          </a:ln>
        </p:spPr>
      </p:sp>
      <p:sp>
        <p:nvSpPr>
          <p:cNvPr id="32" name="Text 24"/>
          <p:cNvSpPr txBox="1"/>
          <p:nvPr/>
        </p:nvSpPr>
        <p:spPr>
          <a:xfrm>
            <a:off x="5879592" y="1819656"/>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5</a:t>
            </a:r>
            <a:endParaRPr lang="en-US" sz="1200" dirty="0"/>
          </a:p>
        </p:txBody>
      </p:sp>
      <p:sp>
        <p:nvSpPr>
          <p:cNvPr id="33" name="Text 25"/>
          <p:cNvSpPr txBox="1"/>
          <p:nvPr/>
        </p:nvSpPr>
        <p:spPr>
          <a:xfrm>
            <a:off x="6355080" y="1609344"/>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Update devices and browsers</a:t>
            </a:r>
            <a:endParaRPr lang="en-US" sz="1300" dirty="0"/>
          </a:p>
        </p:txBody>
      </p:sp>
      <p:pic>
        <p:nvPicPr>
          <p:cNvPr id="34" name="Image 5" descr="preencoded.png">    </p:cNvPr>
          <p:cNvPicPr>
            <a:picLocks noChangeAspect="1"/>
          </p:cNvPicPr>
          <p:nvPr/>
        </p:nvPicPr>
        <p:blipFill>
          <a:blip r:embed="rId6"/>
          <a:stretch>
            <a:fillRect/>
          </a:stretch>
        </p:blipFill>
        <p:spPr>
          <a:xfrm>
            <a:off x="8321040" y="1883664"/>
            <a:ext cx="182880" cy="182880"/>
          </a:xfrm>
          <a:prstGeom prst="rect">
            <a:avLst/>
          </a:prstGeom>
        </p:spPr>
      </p:pic>
      <p:sp>
        <p:nvSpPr>
          <p:cNvPr id="35" name="Shape 26"/>
          <p:cNvSpPr/>
          <p:nvPr/>
        </p:nvSpPr>
        <p:spPr>
          <a:xfrm>
            <a:off x="5669280" y="2459736"/>
            <a:ext cx="3017520" cy="731520"/>
          </a:xfrm>
          <a:prstGeom prst="roundRect">
            <a:avLst>
              <a:gd name="adj" fmla="val 10000"/>
            </a:avLst>
          </a:prstGeom>
          <a:solidFill>
            <a:srgbClr val="111C33"/>
          </a:solidFill>
          <a:ln w="12700">
            <a:solidFill>
              <a:srgbClr val="1F3157"/>
            </a:solidFill>
            <a:prstDash val="solid"/>
          </a:ln>
        </p:spPr>
      </p:sp>
      <p:sp>
        <p:nvSpPr>
          <p:cNvPr id="36" name="Shape 27"/>
          <p:cNvSpPr/>
          <p:nvPr/>
        </p:nvSpPr>
        <p:spPr>
          <a:xfrm>
            <a:off x="5879592" y="2670048"/>
            <a:ext cx="310896" cy="310896"/>
          </a:xfrm>
          <a:prstGeom prst="ellipse">
            <a:avLst/>
          </a:prstGeom>
          <a:solidFill>
            <a:srgbClr val="00D4FF"/>
          </a:solidFill>
          <a:ln w="12700">
            <a:solidFill>
              <a:srgbClr val="00D4FF"/>
            </a:solidFill>
            <a:prstDash val="solid"/>
          </a:ln>
        </p:spPr>
      </p:sp>
      <p:sp>
        <p:nvSpPr>
          <p:cNvPr id="37" name="Text 28"/>
          <p:cNvSpPr txBox="1"/>
          <p:nvPr/>
        </p:nvSpPr>
        <p:spPr>
          <a:xfrm>
            <a:off x="5879592" y="2670048"/>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6</a:t>
            </a:r>
            <a:endParaRPr lang="en-US" sz="1200" dirty="0"/>
          </a:p>
        </p:txBody>
      </p:sp>
      <p:sp>
        <p:nvSpPr>
          <p:cNvPr id="38" name="Text 29"/>
          <p:cNvSpPr txBox="1"/>
          <p:nvPr/>
        </p:nvSpPr>
        <p:spPr>
          <a:xfrm>
            <a:off x="6355080" y="2459736"/>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Never disclose passwords or OTPs</a:t>
            </a:r>
            <a:endParaRPr lang="en-US" sz="1300" dirty="0"/>
          </a:p>
        </p:txBody>
      </p:sp>
      <p:pic>
        <p:nvPicPr>
          <p:cNvPr id="39" name="Image 6" descr="preencoded.png">    </p:cNvPr>
          <p:cNvPicPr>
            <a:picLocks noChangeAspect="1"/>
          </p:cNvPicPr>
          <p:nvPr/>
        </p:nvPicPr>
        <p:blipFill>
          <a:blip r:embed="rId7"/>
          <a:stretch>
            <a:fillRect/>
          </a:stretch>
        </p:blipFill>
        <p:spPr>
          <a:xfrm>
            <a:off x="8321040" y="2734056"/>
            <a:ext cx="182880" cy="182880"/>
          </a:xfrm>
          <a:prstGeom prst="rect">
            <a:avLst/>
          </a:prstGeom>
        </p:spPr>
      </p:pic>
      <p:sp>
        <p:nvSpPr>
          <p:cNvPr id="40" name="Shape 30"/>
          <p:cNvSpPr/>
          <p:nvPr/>
        </p:nvSpPr>
        <p:spPr>
          <a:xfrm>
            <a:off x="5669280" y="3310128"/>
            <a:ext cx="3017520" cy="731520"/>
          </a:xfrm>
          <a:prstGeom prst="roundRect">
            <a:avLst>
              <a:gd name="adj" fmla="val 10000"/>
            </a:avLst>
          </a:prstGeom>
          <a:solidFill>
            <a:srgbClr val="111C33"/>
          </a:solidFill>
          <a:ln w="12700">
            <a:solidFill>
              <a:srgbClr val="1F3157"/>
            </a:solidFill>
            <a:prstDash val="solid"/>
          </a:ln>
        </p:spPr>
      </p:sp>
      <p:sp>
        <p:nvSpPr>
          <p:cNvPr id="41" name="Shape 31"/>
          <p:cNvSpPr/>
          <p:nvPr/>
        </p:nvSpPr>
        <p:spPr>
          <a:xfrm>
            <a:off x="5879592" y="3520440"/>
            <a:ext cx="310896" cy="310896"/>
          </a:xfrm>
          <a:prstGeom prst="ellipse">
            <a:avLst/>
          </a:prstGeom>
          <a:solidFill>
            <a:srgbClr val="00D4FF"/>
          </a:solidFill>
          <a:ln w="12700">
            <a:solidFill>
              <a:srgbClr val="00D4FF"/>
            </a:solidFill>
            <a:prstDash val="solid"/>
          </a:ln>
        </p:spPr>
      </p:sp>
      <p:sp>
        <p:nvSpPr>
          <p:cNvPr id="42" name="Text 32"/>
          <p:cNvSpPr txBox="1"/>
          <p:nvPr/>
        </p:nvSpPr>
        <p:spPr>
          <a:xfrm>
            <a:off x="5879592" y="3520440"/>
            <a:ext cx="310896" cy="310896"/>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7</a:t>
            </a:r>
            <a:endParaRPr lang="en-US" sz="1200" dirty="0"/>
          </a:p>
        </p:txBody>
      </p:sp>
      <p:sp>
        <p:nvSpPr>
          <p:cNvPr id="43" name="Text 33"/>
          <p:cNvSpPr txBox="1"/>
          <p:nvPr/>
        </p:nvSpPr>
        <p:spPr>
          <a:xfrm>
            <a:off x="6355080" y="3310128"/>
            <a:ext cx="17830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 suspicious messages</a:t>
            </a:r>
            <a:endParaRPr lang="en-US" sz="1300" dirty="0"/>
          </a:p>
        </p:txBody>
      </p:sp>
      <p:pic>
        <p:nvPicPr>
          <p:cNvPr id="44" name="Image 7" descr="preencoded.png">    </p:cNvPr>
          <p:cNvPicPr>
            <a:picLocks noChangeAspect="1"/>
          </p:cNvPicPr>
          <p:nvPr/>
        </p:nvPicPr>
        <p:blipFill>
          <a:blip r:embed="rId8"/>
          <a:stretch>
            <a:fillRect/>
          </a:stretch>
        </p:blipFill>
        <p:spPr>
          <a:xfrm>
            <a:off x="8321040" y="3584448"/>
            <a:ext cx="182880" cy="182880"/>
          </a:xfrm>
          <a:prstGeom prst="rect">
            <a:avLst/>
          </a:prstGeom>
        </p:spPr>
      </p:pic>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To Do After a Phishing Attempt</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Incident-response flow: six steps</a:t>
            </a:r>
            <a:endParaRPr lang="en-US" sz="1300" dirty="0"/>
          </a:p>
        </p:txBody>
      </p:sp>
      <p:sp>
        <p:nvSpPr>
          <p:cNvPr id="5" name="Shape 2"/>
          <p:cNvSpPr/>
          <p:nvPr/>
        </p:nvSpPr>
        <p:spPr>
          <a:xfrm>
            <a:off x="457200" y="1188720"/>
            <a:ext cx="2468880" cy="1371600"/>
          </a:xfrm>
          <a:prstGeom prst="roundRect">
            <a:avLst>
              <a:gd name="adj" fmla="val 5333"/>
            </a:avLst>
          </a:prstGeom>
          <a:solidFill>
            <a:srgbClr val="111C33"/>
          </a:solidFill>
          <a:ln w="12700">
            <a:solidFill>
              <a:srgbClr val="1F3157"/>
            </a:solidFill>
            <a:prstDash val="solid"/>
          </a:ln>
        </p:spPr>
      </p:sp>
      <p:sp>
        <p:nvSpPr>
          <p:cNvPr id="6" name="Shape 3"/>
          <p:cNvSpPr/>
          <p:nvPr/>
        </p:nvSpPr>
        <p:spPr>
          <a:xfrm>
            <a:off x="649224" y="1380744"/>
            <a:ext cx="347472" cy="347472"/>
          </a:xfrm>
          <a:prstGeom prst="ellipse">
            <a:avLst/>
          </a:prstGeom>
          <a:solidFill>
            <a:srgbClr val="00D4FF"/>
          </a:solidFill>
          <a:ln w="12700">
            <a:solidFill>
              <a:srgbClr val="00D4FF"/>
            </a:solidFill>
            <a:prstDash val="solid"/>
          </a:ln>
        </p:spPr>
      </p:sp>
      <p:sp>
        <p:nvSpPr>
          <p:cNvPr id="7" name="Text 4"/>
          <p:cNvSpPr txBox="1"/>
          <p:nvPr/>
        </p:nvSpPr>
        <p:spPr>
          <a:xfrm>
            <a:off x="649224" y="13807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1</a:t>
            </a:r>
            <a:endParaRPr lang="en-US" sz="1200" dirty="0"/>
          </a:p>
        </p:txBody>
      </p:sp>
      <p:pic>
        <p:nvPicPr>
          <p:cNvPr id="8" name="Image 0" descr="preencoded.png">    </p:cNvPr>
          <p:cNvPicPr>
            <a:picLocks noChangeAspect="1"/>
          </p:cNvPicPr>
          <p:nvPr/>
        </p:nvPicPr>
        <p:blipFill>
          <a:blip r:embed="rId1"/>
          <a:stretch>
            <a:fillRect/>
          </a:stretch>
        </p:blipFill>
        <p:spPr>
          <a:xfrm>
            <a:off x="2441448" y="1435608"/>
            <a:ext cx="237744" cy="237744"/>
          </a:xfrm>
          <a:prstGeom prst="rect">
            <a:avLst/>
          </a:prstGeom>
        </p:spPr>
      </p:pic>
      <p:sp>
        <p:nvSpPr>
          <p:cNvPr id="9" name="Text 5"/>
          <p:cNvSpPr txBox="1"/>
          <p:nvPr/>
        </p:nvSpPr>
        <p:spPr>
          <a:xfrm>
            <a:off x="1143000" y="13716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Stop</a:t>
            </a:r>
            <a:endParaRPr lang="en-US" sz="1500" dirty="0"/>
          </a:p>
        </p:txBody>
      </p:sp>
      <p:sp>
        <p:nvSpPr>
          <p:cNvPr id="10" name="Text 6"/>
          <p:cNvSpPr txBox="1"/>
          <p:nvPr/>
        </p:nvSpPr>
        <p:spPr>
          <a:xfrm>
            <a:off x="640080" y="19202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Stop interacting with the suspicious message.</a:t>
            </a:r>
            <a:endParaRPr lang="en-US" sz="1200" dirty="0"/>
          </a:p>
        </p:txBody>
      </p:sp>
      <p:sp>
        <p:nvSpPr>
          <p:cNvPr id="11" name="Shape 7"/>
          <p:cNvSpPr/>
          <p:nvPr/>
        </p:nvSpPr>
        <p:spPr>
          <a:xfrm>
            <a:off x="2999232" y="1755648"/>
            <a:ext cx="274320" cy="237744"/>
          </a:xfrm>
          <a:prstGeom prst="rightArrow">
            <a:avLst/>
          </a:prstGeom>
          <a:solidFill>
            <a:srgbClr val="00D4FF"/>
          </a:solidFill>
          <a:ln w="12700">
            <a:solidFill>
              <a:srgbClr val="00D4FF"/>
            </a:solidFill>
            <a:prstDash val="solid"/>
          </a:ln>
        </p:spPr>
      </p:sp>
      <p:sp>
        <p:nvSpPr>
          <p:cNvPr id="12" name="Shape 8"/>
          <p:cNvSpPr/>
          <p:nvPr/>
        </p:nvSpPr>
        <p:spPr>
          <a:xfrm>
            <a:off x="3337560" y="1188720"/>
            <a:ext cx="2468880" cy="1371600"/>
          </a:xfrm>
          <a:prstGeom prst="roundRect">
            <a:avLst>
              <a:gd name="adj" fmla="val 5333"/>
            </a:avLst>
          </a:prstGeom>
          <a:solidFill>
            <a:srgbClr val="111C33"/>
          </a:solidFill>
          <a:ln w="12700">
            <a:solidFill>
              <a:srgbClr val="1F3157"/>
            </a:solidFill>
            <a:prstDash val="solid"/>
          </a:ln>
        </p:spPr>
      </p:sp>
      <p:sp>
        <p:nvSpPr>
          <p:cNvPr id="13" name="Shape 9"/>
          <p:cNvSpPr/>
          <p:nvPr/>
        </p:nvSpPr>
        <p:spPr>
          <a:xfrm>
            <a:off x="3529584" y="1380744"/>
            <a:ext cx="347472" cy="347472"/>
          </a:xfrm>
          <a:prstGeom prst="ellipse">
            <a:avLst/>
          </a:prstGeom>
          <a:solidFill>
            <a:srgbClr val="00D4FF"/>
          </a:solidFill>
          <a:ln w="12700">
            <a:solidFill>
              <a:srgbClr val="00D4FF"/>
            </a:solidFill>
            <a:prstDash val="solid"/>
          </a:ln>
        </p:spPr>
      </p:sp>
      <p:sp>
        <p:nvSpPr>
          <p:cNvPr id="14" name="Text 10"/>
          <p:cNvSpPr txBox="1"/>
          <p:nvPr/>
        </p:nvSpPr>
        <p:spPr>
          <a:xfrm>
            <a:off x="3529584" y="13807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2</a:t>
            </a:r>
            <a:endParaRPr lang="en-US" sz="1200" dirty="0"/>
          </a:p>
        </p:txBody>
      </p:sp>
      <p:pic>
        <p:nvPicPr>
          <p:cNvPr id="15" name="Image 1" descr="preencoded.png">    </p:cNvPr>
          <p:cNvPicPr>
            <a:picLocks noChangeAspect="1"/>
          </p:cNvPicPr>
          <p:nvPr/>
        </p:nvPicPr>
        <p:blipFill>
          <a:blip r:embed="rId2"/>
          <a:stretch>
            <a:fillRect/>
          </a:stretch>
        </p:blipFill>
        <p:spPr>
          <a:xfrm>
            <a:off x="5321808" y="1435608"/>
            <a:ext cx="237744" cy="237744"/>
          </a:xfrm>
          <a:prstGeom prst="rect">
            <a:avLst/>
          </a:prstGeom>
        </p:spPr>
      </p:pic>
      <p:sp>
        <p:nvSpPr>
          <p:cNvPr id="16" name="Text 11"/>
          <p:cNvSpPr txBox="1"/>
          <p:nvPr/>
        </p:nvSpPr>
        <p:spPr>
          <a:xfrm>
            <a:off x="4023360" y="13716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Protect</a:t>
            </a:r>
            <a:endParaRPr lang="en-US" sz="1500" dirty="0"/>
          </a:p>
        </p:txBody>
      </p:sp>
      <p:sp>
        <p:nvSpPr>
          <p:cNvPr id="17" name="Text 12"/>
          <p:cNvSpPr txBox="1"/>
          <p:nvPr/>
        </p:nvSpPr>
        <p:spPr>
          <a:xfrm>
            <a:off x="3520440" y="19202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Do not disclose sensitive information.</a:t>
            </a:r>
            <a:endParaRPr lang="en-US" sz="1200" dirty="0"/>
          </a:p>
        </p:txBody>
      </p:sp>
      <p:sp>
        <p:nvSpPr>
          <p:cNvPr id="18" name="Shape 13"/>
          <p:cNvSpPr/>
          <p:nvPr/>
        </p:nvSpPr>
        <p:spPr>
          <a:xfrm>
            <a:off x="5879592" y="1755648"/>
            <a:ext cx="274320" cy="237744"/>
          </a:xfrm>
          <a:prstGeom prst="rightArrow">
            <a:avLst/>
          </a:prstGeom>
          <a:solidFill>
            <a:srgbClr val="00D4FF"/>
          </a:solidFill>
          <a:ln w="12700">
            <a:solidFill>
              <a:srgbClr val="00D4FF"/>
            </a:solidFill>
            <a:prstDash val="solid"/>
          </a:ln>
        </p:spPr>
      </p:sp>
      <p:sp>
        <p:nvSpPr>
          <p:cNvPr id="19" name="Shape 14"/>
          <p:cNvSpPr/>
          <p:nvPr/>
        </p:nvSpPr>
        <p:spPr>
          <a:xfrm>
            <a:off x="6217920" y="1188720"/>
            <a:ext cx="2468880" cy="1371600"/>
          </a:xfrm>
          <a:prstGeom prst="roundRect">
            <a:avLst>
              <a:gd name="adj" fmla="val 5333"/>
            </a:avLst>
          </a:prstGeom>
          <a:solidFill>
            <a:srgbClr val="111C33"/>
          </a:solidFill>
          <a:ln w="12700">
            <a:solidFill>
              <a:srgbClr val="1F3157"/>
            </a:solidFill>
            <a:prstDash val="solid"/>
          </a:ln>
        </p:spPr>
      </p:sp>
      <p:sp>
        <p:nvSpPr>
          <p:cNvPr id="20" name="Shape 15"/>
          <p:cNvSpPr/>
          <p:nvPr/>
        </p:nvSpPr>
        <p:spPr>
          <a:xfrm>
            <a:off x="6409944" y="1380744"/>
            <a:ext cx="347472" cy="347472"/>
          </a:xfrm>
          <a:prstGeom prst="ellipse">
            <a:avLst/>
          </a:prstGeom>
          <a:solidFill>
            <a:srgbClr val="00D4FF"/>
          </a:solidFill>
          <a:ln w="12700">
            <a:solidFill>
              <a:srgbClr val="00D4FF"/>
            </a:solidFill>
            <a:prstDash val="solid"/>
          </a:ln>
        </p:spPr>
      </p:sp>
      <p:sp>
        <p:nvSpPr>
          <p:cNvPr id="21" name="Text 16"/>
          <p:cNvSpPr txBox="1"/>
          <p:nvPr/>
        </p:nvSpPr>
        <p:spPr>
          <a:xfrm>
            <a:off x="6409944" y="13807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3</a:t>
            </a:r>
            <a:endParaRPr lang="en-US" sz="1200" dirty="0"/>
          </a:p>
        </p:txBody>
      </p:sp>
      <p:pic>
        <p:nvPicPr>
          <p:cNvPr id="22" name="Image 2" descr="preencoded.png">    </p:cNvPr>
          <p:cNvPicPr>
            <a:picLocks noChangeAspect="1"/>
          </p:cNvPicPr>
          <p:nvPr/>
        </p:nvPicPr>
        <p:blipFill>
          <a:blip r:embed="rId3"/>
          <a:stretch>
            <a:fillRect/>
          </a:stretch>
        </p:blipFill>
        <p:spPr>
          <a:xfrm>
            <a:off x="8202168" y="1435608"/>
            <a:ext cx="237744" cy="237744"/>
          </a:xfrm>
          <a:prstGeom prst="rect">
            <a:avLst/>
          </a:prstGeom>
        </p:spPr>
      </p:pic>
      <p:sp>
        <p:nvSpPr>
          <p:cNvPr id="23" name="Text 17"/>
          <p:cNvSpPr txBox="1"/>
          <p:nvPr/>
        </p:nvSpPr>
        <p:spPr>
          <a:xfrm>
            <a:off x="6903720" y="13716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Verify</a:t>
            </a:r>
            <a:endParaRPr lang="en-US" sz="1500" dirty="0"/>
          </a:p>
        </p:txBody>
      </p:sp>
      <p:sp>
        <p:nvSpPr>
          <p:cNvPr id="24" name="Text 18"/>
          <p:cNvSpPr txBox="1"/>
          <p:nvPr/>
        </p:nvSpPr>
        <p:spPr>
          <a:xfrm>
            <a:off x="6400800" y="19202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Verify the request through official channels.</a:t>
            </a:r>
            <a:endParaRPr lang="en-US" sz="1200" dirty="0"/>
          </a:p>
        </p:txBody>
      </p:sp>
      <p:sp>
        <p:nvSpPr>
          <p:cNvPr id="25" name="Shape 19"/>
          <p:cNvSpPr/>
          <p:nvPr/>
        </p:nvSpPr>
        <p:spPr>
          <a:xfrm>
            <a:off x="6217920" y="3017520"/>
            <a:ext cx="2468880" cy="1371600"/>
          </a:xfrm>
          <a:prstGeom prst="roundRect">
            <a:avLst>
              <a:gd name="adj" fmla="val 5333"/>
            </a:avLst>
          </a:prstGeom>
          <a:solidFill>
            <a:srgbClr val="111C33"/>
          </a:solidFill>
          <a:ln w="12700">
            <a:solidFill>
              <a:srgbClr val="1F3157"/>
            </a:solidFill>
            <a:prstDash val="solid"/>
          </a:ln>
        </p:spPr>
      </p:sp>
      <p:sp>
        <p:nvSpPr>
          <p:cNvPr id="26" name="Shape 20"/>
          <p:cNvSpPr/>
          <p:nvPr/>
        </p:nvSpPr>
        <p:spPr>
          <a:xfrm>
            <a:off x="6409944" y="3209544"/>
            <a:ext cx="347472" cy="347472"/>
          </a:xfrm>
          <a:prstGeom prst="ellipse">
            <a:avLst/>
          </a:prstGeom>
          <a:solidFill>
            <a:srgbClr val="00D4FF"/>
          </a:solidFill>
          <a:ln w="12700">
            <a:solidFill>
              <a:srgbClr val="00D4FF"/>
            </a:solidFill>
            <a:prstDash val="solid"/>
          </a:ln>
        </p:spPr>
      </p:sp>
      <p:sp>
        <p:nvSpPr>
          <p:cNvPr id="27" name="Text 21"/>
          <p:cNvSpPr txBox="1"/>
          <p:nvPr/>
        </p:nvSpPr>
        <p:spPr>
          <a:xfrm>
            <a:off x="6409944" y="32095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4</a:t>
            </a:r>
            <a:endParaRPr lang="en-US" sz="1200" dirty="0"/>
          </a:p>
        </p:txBody>
      </p:sp>
      <p:pic>
        <p:nvPicPr>
          <p:cNvPr id="28" name="Image 3" descr="preencoded.png">    </p:cNvPr>
          <p:cNvPicPr>
            <a:picLocks noChangeAspect="1"/>
          </p:cNvPicPr>
          <p:nvPr/>
        </p:nvPicPr>
        <p:blipFill>
          <a:blip r:embed="rId4"/>
          <a:stretch>
            <a:fillRect/>
          </a:stretch>
        </p:blipFill>
        <p:spPr>
          <a:xfrm>
            <a:off x="8202168" y="3264408"/>
            <a:ext cx="237744" cy="237744"/>
          </a:xfrm>
          <a:prstGeom prst="rect">
            <a:avLst/>
          </a:prstGeom>
        </p:spPr>
      </p:pic>
      <p:sp>
        <p:nvSpPr>
          <p:cNvPr id="29" name="Text 22"/>
          <p:cNvSpPr txBox="1"/>
          <p:nvPr/>
        </p:nvSpPr>
        <p:spPr>
          <a:xfrm>
            <a:off x="6903720" y="32004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Report</a:t>
            </a:r>
            <a:endParaRPr lang="en-US" sz="1500" dirty="0"/>
          </a:p>
        </p:txBody>
      </p:sp>
      <p:sp>
        <p:nvSpPr>
          <p:cNvPr id="30" name="Text 23"/>
          <p:cNvSpPr txBox="1"/>
          <p:nvPr/>
        </p:nvSpPr>
        <p:spPr>
          <a:xfrm>
            <a:off x="6400800" y="37490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Report the suspicious message.</a:t>
            </a:r>
            <a:endParaRPr lang="en-US" sz="1200" dirty="0"/>
          </a:p>
        </p:txBody>
      </p:sp>
      <p:sp>
        <p:nvSpPr>
          <p:cNvPr id="31" name="Shape 24"/>
          <p:cNvSpPr/>
          <p:nvPr/>
        </p:nvSpPr>
        <p:spPr>
          <a:xfrm>
            <a:off x="5870448" y="3584448"/>
            <a:ext cx="274320" cy="237744"/>
          </a:xfrm>
          <a:prstGeom prst="leftArrow">
            <a:avLst/>
          </a:prstGeom>
          <a:solidFill>
            <a:srgbClr val="00D4FF"/>
          </a:solidFill>
          <a:ln w="12700">
            <a:solidFill>
              <a:srgbClr val="00D4FF"/>
            </a:solidFill>
            <a:prstDash val="solid"/>
          </a:ln>
        </p:spPr>
      </p:sp>
      <p:sp>
        <p:nvSpPr>
          <p:cNvPr id="32" name="Shape 25"/>
          <p:cNvSpPr/>
          <p:nvPr/>
        </p:nvSpPr>
        <p:spPr>
          <a:xfrm>
            <a:off x="3337560" y="3017520"/>
            <a:ext cx="2468880" cy="1371600"/>
          </a:xfrm>
          <a:prstGeom prst="roundRect">
            <a:avLst>
              <a:gd name="adj" fmla="val 5333"/>
            </a:avLst>
          </a:prstGeom>
          <a:solidFill>
            <a:srgbClr val="111C33"/>
          </a:solidFill>
          <a:ln w="12700">
            <a:solidFill>
              <a:srgbClr val="1F3157"/>
            </a:solidFill>
            <a:prstDash val="solid"/>
          </a:ln>
        </p:spPr>
      </p:sp>
      <p:sp>
        <p:nvSpPr>
          <p:cNvPr id="33" name="Shape 26"/>
          <p:cNvSpPr/>
          <p:nvPr/>
        </p:nvSpPr>
        <p:spPr>
          <a:xfrm>
            <a:off x="3529584" y="3209544"/>
            <a:ext cx="347472" cy="347472"/>
          </a:xfrm>
          <a:prstGeom prst="ellipse">
            <a:avLst/>
          </a:prstGeom>
          <a:solidFill>
            <a:srgbClr val="00D4FF"/>
          </a:solidFill>
          <a:ln w="12700">
            <a:solidFill>
              <a:srgbClr val="00D4FF"/>
            </a:solidFill>
            <a:prstDash val="solid"/>
          </a:ln>
        </p:spPr>
      </p:sp>
      <p:sp>
        <p:nvSpPr>
          <p:cNvPr id="34" name="Text 27"/>
          <p:cNvSpPr txBox="1"/>
          <p:nvPr/>
        </p:nvSpPr>
        <p:spPr>
          <a:xfrm>
            <a:off x="3529584" y="32095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5</a:t>
            </a:r>
            <a:endParaRPr lang="en-US" sz="1200" dirty="0"/>
          </a:p>
        </p:txBody>
      </p:sp>
      <p:pic>
        <p:nvPicPr>
          <p:cNvPr id="35" name="Image 4" descr="preencoded.png">    </p:cNvPr>
          <p:cNvPicPr>
            <a:picLocks noChangeAspect="1"/>
          </p:cNvPicPr>
          <p:nvPr/>
        </p:nvPicPr>
        <p:blipFill>
          <a:blip r:embed="rId5"/>
          <a:stretch>
            <a:fillRect/>
          </a:stretch>
        </p:blipFill>
        <p:spPr>
          <a:xfrm>
            <a:off x="5321808" y="3264408"/>
            <a:ext cx="237744" cy="237744"/>
          </a:xfrm>
          <a:prstGeom prst="rect">
            <a:avLst/>
          </a:prstGeom>
        </p:spPr>
      </p:pic>
      <p:sp>
        <p:nvSpPr>
          <p:cNvPr id="36" name="Text 28"/>
          <p:cNvSpPr txBox="1"/>
          <p:nvPr/>
        </p:nvSpPr>
        <p:spPr>
          <a:xfrm>
            <a:off x="4023360" y="32004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Secure</a:t>
            </a:r>
            <a:endParaRPr lang="en-US" sz="1500" dirty="0"/>
          </a:p>
        </p:txBody>
      </p:sp>
      <p:sp>
        <p:nvSpPr>
          <p:cNvPr id="37" name="Text 29"/>
          <p:cNvSpPr txBox="1"/>
          <p:nvPr/>
        </p:nvSpPr>
        <p:spPr>
          <a:xfrm>
            <a:off x="3520440" y="37490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Change compromised passwords through legitimate websites.</a:t>
            </a:r>
            <a:endParaRPr lang="en-US" sz="1200" dirty="0"/>
          </a:p>
        </p:txBody>
      </p:sp>
      <p:sp>
        <p:nvSpPr>
          <p:cNvPr id="38" name="Shape 30"/>
          <p:cNvSpPr/>
          <p:nvPr/>
        </p:nvSpPr>
        <p:spPr>
          <a:xfrm>
            <a:off x="2990088" y="3584448"/>
            <a:ext cx="274320" cy="237744"/>
          </a:xfrm>
          <a:prstGeom prst="leftArrow">
            <a:avLst/>
          </a:prstGeom>
          <a:solidFill>
            <a:srgbClr val="00D4FF"/>
          </a:solidFill>
          <a:ln w="12700">
            <a:solidFill>
              <a:srgbClr val="00D4FF"/>
            </a:solidFill>
            <a:prstDash val="solid"/>
          </a:ln>
        </p:spPr>
      </p:sp>
      <p:sp>
        <p:nvSpPr>
          <p:cNvPr id="39" name="Shape 31"/>
          <p:cNvSpPr/>
          <p:nvPr/>
        </p:nvSpPr>
        <p:spPr>
          <a:xfrm>
            <a:off x="457200" y="3017520"/>
            <a:ext cx="2468880" cy="1371600"/>
          </a:xfrm>
          <a:prstGeom prst="roundRect">
            <a:avLst>
              <a:gd name="adj" fmla="val 5333"/>
            </a:avLst>
          </a:prstGeom>
          <a:solidFill>
            <a:srgbClr val="111C33"/>
          </a:solidFill>
          <a:ln w="19050">
            <a:solidFill>
              <a:srgbClr val="22C55E"/>
            </a:solidFill>
            <a:prstDash val="solid"/>
          </a:ln>
        </p:spPr>
      </p:sp>
      <p:sp>
        <p:nvSpPr>
          <p:cNvPr id="40" name="Shape 32"/>
          <p:cNvSpPr/>
          <p:nvPr/>
        </p:nvSpPr>
        <p:spPr>
          <a:xfrm>
            <a:off x="649224" y="3209544"/>
            <a:ext cx="347472" cy="347472"/>
          </a:xfrm>
          <a:prstGeom prst="ellipse">
            <a:avLst/>
          </a:prstGeom>
          <a:solidFill>
            <a:srgbClr val="00D4FF"/>
          </a:solidFill>
          <a:ln w="12700">
            <a:solidFill>
              <a:srgbClr val="00D4FF"/>
            </a:solidFill>
            <a:prstDash val="solid"/>
          </a:ln>
        </p:spPr>
      </p:sp>
      <p:sp>
        <p:nvSpPr>
          <p:cNvPr id="41" name="Text 33"/>
          <p:cNvSpPr txBox="1"/>
          <p:nvPr/>
        </p:nvSpPr>
        <p:spPr>
          <a:xfrm>
            <a:off x="649224" y="3209544"/>
            <a:ext cx="347472" cy="347472"/>
          </a:xfrm>
          <a:prstGeom prst="rect">
            <a:avLst/>
          </a:prstGeom>
          <a:noFill/>
          <a:ln/>
        </p:spPr>
        <p:txBody>
          <a:bodyPr wrap="square" lIns="0" tIns="0" rIns="0" bIns="0" rtlCol="0" anchor="ctr"/>
          <a:lstStyle/>
          <a:p>
            <a:pPr algn="ctr" indent="0" marL="0">
              <a:buNone/>
            </a:pPr>
            <a:r>
              <a:rPr lang="en-US" sz="1200" b="1" dirty="0">
                <a:solidFill>
                  <a:srgbClr val="0B1120"/>
                </a:solidFill>
                <a:latin typeface="Calibri" pitchFamily="34" charset="0"/>
                <a:ea typeface="Calibri" pitchFamily="34" charset="-122"/>
                <a:cs typeface="Calibri" pitchFamily="34" charset="-120"/>
              </a:rPr>
              <a:t>6</a:t>
            </a:r>
            <a:endParaRPr lang="en-US" sz="1200" dirty="0"/>
          </a:p>
        </p:txBody>
      </p:sp>
      <p:pic>
        <p:nvPicPr>
          <p:cNvPr id="42" name="Image 5" descr="preencoded.png">    </p:cNvPr>
          <p:cNvPicPr>
            <a:picLocks noChangeAspect="1"/>
          </p:cNvPicPr>
          <p:nvPr/>
        </p:nvPicPr>
        <p:blipFill>
          <a:blip r:embed="rId6"/>
          <a:stretch>
            <a:fillRect/>
          </a:stretch>
        </p:blipFill>
        <p:spPr>
          <a:xfrm>
            <a:off x="2441448" y="3264408"/>
            <a:ext cx="237744" cy="237744"/>
          </a:xfrm>
          <a:prstGeom prst="rect">
            <a:avLst/>
          </a:prstGeom>
        </p:spPr>
      </p:pic>
      <p:sp>
        <p:nvSpPr>
          <p:cNvPr id="43" name="Text 34"/>
          <p:cNvSpPr txBox="1"/>
          <p:nvPr/>
        </p:nvSpPr>
        <p:spPr>
          <a:xfrm>
            <a:off x="1143000" y="3200400"/>
            <a:ext cx="1097280" cy="365760"/>
          </a:xfrm>
          <a:prstGeom prst="rect">
            <a:avLst/>
          </a:prstGeom>
          <a:noFill/>
          <a:ln/>
        </p:spPr>
        <p:txBody>
          <a:bodyPr wrap="square" lIns="0" tIns="0" rIns="0" bIns="0" rtlCol="0" anchor="ctr"/>
          <a:lstStyle/>
          <a:p>
            <a:pPr indent="0" marL="0">
              <a:buNone/>
            </a:pPr>
            <a:r>
              <a:rPr lang="en-US" sz="1500" b="1" dirty="0">
                <a:solidFill>
                  <a:srgbClr val="00D4FF"/>
                </a:solidFill>
                <a:latin typeface="Calibri" pitchFamily="34" charset="0"/>
                <a:ea typeface="Calibri" pitchFamily="34" charset="-122"/>
                <a:cs typeface="Calibri" pitchFamily="34" charset="-120"/>
              </a:rPr>
              <a:t>Review</a:t>
            </a:r>
            <a:endParaRPr lang="en-US" sz="1500" dirty="0"/>
          </a:p>
        </p:txBody>
      </p:sp>
      <p:sp>
        <p:nvSpPr>
          <p:cNvPr id="44" name="Text 35"/>
          <p:cNvSpPr txBox="1"/>
          <p:nvPr/>
        </p:nvSpPr>
        <p:spPr>
          <a:xfrm>
            <a:off x="640080" y="3749040"/>
            <a:ext cx="2103120" cy="59436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Review account activity and contact support if needed.</a:t>
            </a:r>
            <a:endParaRPr lang="en-US" sz="1200" dirty="0"/>
          </a:p>
        </p:txBody>
      </p:sp>
      <p:sp>
        <p:nvSpPr>
          <p:cNvPr id="45" name="Shape 36"/>
          <p:cNvSpPr/>
          <p:nvPr/>
        </p:nvSpPr>
        <p:spPr>
          <a:xfrm>
            <a:off x="7315200" y="2633472"/>
            <a:ext cx="274320" cy="320040"/>
          </a:xfrm>
          <a:prstGeom prst="downArrow">
            <a:avLst/>
          </a:prstGeom>
          <a:solidFill>
            <a:srgbClr val="00D4FF"/>
          </a:solidFill>
          <a:ln w="12700">
            <a:solidFill>
              <a:srgbClr val="00D4FF"/>
            </a:solidFill>
            <a:prstDash val="solid"/>
          </a:ln>
        </p:spPr>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Interactive Knowledge Quiz</a:t>
            </a:r>
            <a:endParaRPr lang="en-US" sz="2800" dirty="0"/>
          </a:p>
        </p:txBody>
      </p:sp>
      <p:sp>
        <p:nvSpPr>
          <p:cNvPr id="4" name="Text 1"/>
          <p:cNvSpPr txBox="1"/>
          <p:nvPr/>
        </p:nvSpPr>
        <p:spPr>
          <a:xfrm>
            <a:off x="457200" y="768096"/>
            <a:ext cx="8229600" cy="274320"/>
          </a:xfrm>
          <a:prstGeom prst="rect">
            <a:avLst/>
          </a:prstGeom>
          <a:noFill/>
          <a:ln/>
        </p:spPr>
        <p:txBody>
          <a:bodyPr wrap="square" lIns="0" tIns="0" rIns="0" bIns="0" rtlCol="0" anchor="t"/>
          <a:lstStyle/>
          <a:p>
            <a:pPr indent="0" marL="0">
              <a:buNone/>
            </a:pPr>
            <a:r>
              <a:rPr lang="en-US" sz="1300" dirty="0">
                <a:solidFill>
                  <a:srgbClr val="00D4FF"/>
                </a:solidFill>
                <a:latin typeface="Calibri" pitchFamily="34" charset="0"/>
                <a:ea typeface="Calibri" pitchFamily="34" charset="-122"/>
                <a:cs typeface="Calibri" pitchFamily="34" charset="-120"/>
              </a:rPr>
              <a:t>Test yourself – answer key is in the speaker notes</a:t>
            </a:r>
            <a:endParaRPr lang="en-US" sz="1300" dirty="0"/>
          </a:p>
        </p:txBody>
      </p:sp>
      <p:sp>
        <p:nvSpPr>
          <p:cNvPr id="5" name="Shape 2"/>
          <p:cNvSpPr/>
          <p:nvPr/>
        </p:nvSpPr>
        <p:spPr>
          <a:xfrm>
            <a:off x="457200" y="1188720"/>
            <a:ext cx="2651760" cy="1600200"/>
          </a:xfrm>
          <a:prstGeom prst="roundRect">
            <a:avLst>
              <a:gd name="adj" fmla="val 4571"/>
            </a:avLst>
          </a:prstGeom>
          <a:solidFill>
            <a:srgbClr val="111C33"/>
          </a:solidFill>
          <a:ln w="12700">
            <a:solidFill>
              <a:srgbClr val="1F3157"/>
            </a:solidFill>
            <a:prstDash val="solid"/>
          </a:ln>
        </p:spPr>
      </p:sp>
      <p:sp>
        <p:nvSpPr>
          <p:cNvPr id="6" name="Text 3"/>
          <p:cNvSpPr txBox="1"/>
          <p:nvPr/>
        </p:nvSpPr>
        <p:spPr>
          <a:xfrm>
            <a:off x="594360" y="1280160"/>
            <a:ext cx="2377440" cy="4572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Q1. What is the primary objective of phishing?</a:t>
            </a:r>
            <a:endParaRPr lang="en-US" sz="1100" dirty="0"/>
          </a:p>
        </p:txBody>
      </p:sp>
      <p:sp>
        <p:nvSpPr>
          <p:cNvPr id="7" name="Shape 4"/>
          <p:cNvSpPr/>
          <p:nvPr/>
        </p:nvSpPr>
        <p:spPr>
          <a:xfrm>
            <a:off x="594360" y="1783080"/>
            <a:ext cx="2377440" cy="265176"/>
          </a:xfrm>
          <a:prstGeom prst="roundRect">
            <a:avLst>
              <a:gd name="adj" fmla="val 27586"/>
            </a:avLst>
          </a:prstGeom>
          <a:solidFill>
            <a:srgbClr val="0B1120"/>
          </a:solidFill>
          <a:ln w="12700">
            <a:solidFill>
              <a:srgbClr val="2B3F6B"/>
            </a:solidFill>
            <a:prstDash val="solid"/>
          </a:ln>
        </p:spPr>
      </p:sp>
      <p:sp>
        <p:nvSpPr>
          <p:cNvPr id="8" name="Text 5"/>
          <p:cNvSpPr txBox="1"/>
          <p:nvPr/>
        </p:nvSpPr>
        <p:spPr>
          <a:xfrm>
            <a:off x="685800" y="178308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  Improve device performance</a:t>
            </a:r>
            <a:endParaRPr lang="en-US" sz="1050" dirty="0"/>
          </a:p>
        </p:txBody>
      </p:sp>
      <p:sp>
        <p:nvSpPr>
          <p:cNvPr id="9" name="Shape 6"/>
          <p:cNvSpPr/>
          <p:nvPr/>
        </p:nvSpPr>
        <p:spPr>
          <a:xfrm>
            <a:off x="594360" y="2103120"/>
            <a:ext cx="2377440" cy="265176"/>
          </a:xfrm>
          <a:prstGeom prst="roundRect">
            <a:avLst>
              <a:gd name="adj" fmla="val 27586"/>
            </a:avLst>
          </a:prstGeom>
          <a:solidFill>
            <a:srgbClr val="0B1120"/>
          </a:solidFill>
          <a:ln w="12700">
            <a:solidFill>
              <a:srgbClr val="2B3F6B"/>
            </a:solidFill>
            <a:prstDash val="solid"/>
          </a:ln>
        </p:spPr>
      </p:sp>
      <p:sp>
        <p:nvSpPr>
          <p:cNvPr id="10" name="Text 7"/>
          <p:cNvSpPr txBox="1"/>
          <p:nvPr/>
        </p:nvSpPr>
        <p:spPr>
          <a:xfrm>
            <a:off x="685800" y="210312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  Steal sensitive information</a:t>
            </a:r>
            <a:endParaRPr lang="en-US" sz="1050" dirty="0"/>
          </a:p>
        </p:txBody>
      </p:sp>
      <p:sp>
        <p:nvSpPr>
          <p:cNvPr id="11" name="Shape 8"/>
          <p:cNvSpPr/>
          <p:nvPr/>
        </p:nvSpPr>
        <p:spPr>
          <a:xfrm>
            <a:off x="594360" y="2423160"/>
            <a:ext cx="2377440" cy="265176"/>
          </a:xfrm>
          <a:prstGeom prst="roundRect">
            <a:avLst>
              <a:gd name="adj" fmla="val 27586"/>
            </a:avLst>
          </a:prstGeom>
          <a:solidFill>
            <a:srgbClr val="0B1120"/>
          </a:solidFill>
          <a:ln w="12700">
            <a:solidFill>
              <a:srgbClr val="2B3F6B"/>
            </a:solidFill>
            <a:prstDash val="solid"/>
          </a:ln>
        </p:spPr>
      </p:sp>
      <p:sp>
        <p:nvSpPr>
          <p:cNvPr id="12" name="Text 9"/>
          <p:cNvSpPr txBox="1"/>
          <p:nvPr/>
        </p:nvSpPr>
        <p:spPr>
          <a:xfrm>
            <a:off x="685800" y="242316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C.  Install legitimate updates</a:t>
            </a:r>
            <a:endParaRPr lang="en-US" sz="1050" dirty="0"/>
          </a:p>
        </p:txBody>
      </p:sp>
      <p:sp>
        <p:nvSpPr>
          <p:cNvPr id="13" name="Shape 10"/>
          <p:cNvSpPr/>
          <p:nvPr/>
        </p:nvSpPr>
        <p:spPr>
          <a:xfrm>
            <a:off x="3246120" y="1188720"/>
            <a:ext cx="2651760" cy="1600200"/>
          </a:xfrm>
          <a:prstGeom prst="roundRect">
            <a:avLst>
              <a:gd name="adj" fmla="val 4571"/>
            </a:avLst>
          </a:prstGeom>
          <a:solidFill>
            <a:srgbClr val="111C33"/>
          </a:solidFill>
          <a:ln w="12700">
            <a:solidFill>
              <a:srgbClr val="1F3157"/>
            </a:solidFill>
            <a:prstDash val="solid"/>
          </a:ln>
        </p:spPr>
      </p:sp>
      <p:sp>
        <p:nvSpPr>
          <p:cNvPr id="14" name="Text 11"/>
          <p:cNvSpPr txBox="1"/>
          <p:nvPr/>
        </p:nvSpPr>
        <p:spPr>
          <a:xfrm>
            <a:off x="3383280" y="1280160"/>
            <a:ext cx="2377440" cy="4572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Q2. Which is a common phishing warning sign?</a:t>
            </a:r>
            <a:endParaRPr lang="en-US" sz="1100" dirty="0"/>
          </a:p>
        </p:txBody>
      </p:sp>
      <p:sp>
        <p:nvSpPr>
          <p:cNvPr id="15" name="Shape 12"/>
          <p:cNvSpPr/>
          <p:nvPr/>
        </p:nvSpPr>
        <p:spPr>
          <a:xfrm>
            <a:off x="3383280" y="1783080"/>
            <a:ext cx="2377440" cy="265176"/>
          </a:xfrm>
          <a:prstGeom prst="roundRect">
            <a:avLst>
              <a:gd name="adj" fmla="val 27586"/>
            </a:avLst>
          </a:prstGeom>
          <a:solidFill>
            <a:srgbClr val="0B1120"/>
          </a:solidFill>
          <a:ln w="12700">
            <a:solidFill>
              <a:srgbClr val="2B3F6B"/>
            </a:solidFill>
            <a:prstDash val="solid"/>
          </a:ln>
        </p:spPr>
      </p:sp>
      <p:sp>
        <p:nvSpPr>
          <p:cNvPr id="16" name="Text 13"/>
          <p:cNvSpPr txBox="1"/>
          <p:nvPr/>
        </p:nvSpPr>
        <p:spPr>
          <a:xfrm>
            <a:off x="3474720" y="178308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  Unexpected urgent requests</a:t>
            </a:r>
            <a:endParaRPr lang="en-US" sz="1050" dirty="0"/>
          </a:p>
        </p:txBody>
      </p:sp>
      <p:sp>
        <p:nvSpPr>
          <p:cNvPr id="17" name="Shape 14"/>
          <p:cNvSpPr/>
          <p:nvPr/>
        </p:nvSpPr>
        <p:spPr>
          <a:xfrm>
            <a:off x="3383280" y="2103120"/>
            <a:ext cx="2377440" cy="265176"/>
          </a:xfrm>
          <a:prstGeom prst="roundRect">
            <a:avLst>
              <a:gd name="adj" fmla="val 27586"/>
            </a:avLst>
          </a:prstGeom>
          <a:solidFill>
            <a:srgbClr val="0B1120"/>
          </a:solidFill>
          <a:ln w="12700">
            <a:solidFill>
              <a:srgbClr val="2B3F6B"/>
            </a:solidFill>
            <a:prstDash val="solid"/>
          </a:ln>
        </p:spPr>
      </p:sp>
      <p:sp>
        <p:nvSpPr>
          <p:cNvPr id="18" name="Text 15"/>
          <p:cNvSpPr txBox="1"/>
          <p:nvPr/>
        </p:nvSpPr>
        <p:spPr>
          <a:xfrm>
            <a:off x="3474720" y="210312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  A trusted bookmarked website</a:t>
            </a:r>
            <a:endParaRPr lang="en-US" sz="1050" dirty="0"/>
          </a:p>
        </p:txBody>
      </p:sp>
      <p:sp>
        <p:nvSpPr>
          <p:cNvPr id="19" name="Shape 16"/>
          <p:cNvSpPr/>
          <p:nvPr/>
        </p:nvSpPr>
        <p:spPr>
          <a:xfrm>
            <a:off x="3383280" y="2423160"/>
            <a:ext cx="2377440" cy="265176"/>
          </a:xfrm>
          <a:prstGeom prst="roundRect">
            <a:avLst>
              <a:gd name="adj" fmla="val 27586"/>
            </a:avLst>
          </a:prstGeom>
          <a:solidFill>
            <a:srgbClr val="0B1120"/>
          </a:solidFill>
          <a:ln w="12700">
            <a:solidFill>
              <a:srgbClr val="2B3F6B"/>
            </a:solidFill>
            <a:prstDash val="solid"/>
          </a:ln>
        </p:spPr>
      </p:sp>
      <p:sp>
        <p:nvSpPr>
          <p:cNvPr id="20" name="Text 17"/>
          <p:cNvSpPr txBox="1"/>
          <p:nvPr/>
        </p:nvSpPr>
        <p:spPr>
          <a:xfrm>
            <a:off x="3474720" y="242316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C.  A verified announcement</a:t>
            </a:r>
            <a:endParaRPr lang="en-US" sz="1050" dirty="0"/>
          </a:p>
        </p:txBody>
      </p:sp>
      <p:sp>
        <p:nvSpPr>
          <p:cNvPr id="21" name="Shape 18"/>
          <p:cNvSpPr/>
          <p:nvPr/>
        </p:nvSpPr>
        <p:spPr>
          <a:xfrm>
            <a:off x="6035040" y="1188720"/>
            <a:ext cx="2651760" cy="1600200"/>
          </a:xfrm>
          <a:prstGeom prst="roundRect">
            <a:avLst>
              <a:gd name="adj" fmla="val 4571"/>
            </a:avLst>
          </a:prstGeom>
          <a:solidFill>
            <a:srgbClr val="111C33"/>
          </a:solidFill>
          <a:ln w="12700">
            <a:solidFill>
              <a:srgbClr val="1F3157"/>
            </a:solidFill>
            <a:prstDash val="solid"/>
          </a:ln>
        </p:spPr>
      </p:sp>
      <p:sp>
        <p:nvSpPr>
          <p:cNvPr id="22" name="Text 19"/>
          <p:cNvSpPr txBox="1"/>
          <p:nvPr/>
        </p:nvSpPr>
        <p:spPr>
          <a:xfrm>
            <a:off x="6172200" y="1280160"/>
            <a:ext cx="2377440" cy="4572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Q3. What is smishing?</a:t>
            </a:r>
            <a:endParaRPr lang="en-US" sz="1100" dirty="0"/>
          </a:p>
        </p:txBody>
      </p:sp>
      <p:sp>
        <p:nvSpPr>
          <p:cNvPr id="23" name="Shape 20"/>
          <p:cNvSpPr/>
          <p:nvPr/>
        </p:nvSpPr>
        <p:spPr>
          <a:xfrm>
            <a:off x="6172200" y="1783080"/>
            <a:ext cx="2377440" cy="265176"/>
          </a:xfrm>
          <a:prstGeom prst="roundRect">
            <a:avLst>
              <a:gd name="adj" fmla="val 27586"/>
            </a:avLst>
          </a:prstGeom>
          <a:solidFill>
            <a:srgbClr val="0B1120"/>
          </a:solidFill>
          <a:ln w="12700">
            <a:solidFill>
              <a:srgbClr val="2B3F6B"/>
            </a:solidFill>
            <a:prstDash val="solid"/>
          </a:ln>
        </p:spPr>
      </p:sp>
      <p:sp>
        <p:nvSpPr>
          <p:cNvPr id="24" name="Text 21"/>
          <p:cNvSpPr txBox="1"/>
          <p:nvPr/>
        </p:nvSpPr>
        <p:spPr>
          <a:xfrm>
            <a:off x="6263640" y="178308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  Phishing through SMS</a:t>
            </a:r>
            <a:endParaRPr lang="en-US" sz="1050" dirty="0"/>
          </a:p>
        </p:txBody>
      </p:sp>
      <p:sp>
        <p:nvSpPr>
          <p:cNvPr id="25" name="Shape 22"/>
          <p:cNvSpPr/>
          <p:nvPr/>
        </p:nvSpPr>
        <p:spPr>
          <a:xfrm>
            <a:off x="6172200" y="2103120"/>
            <a:ext cx="2377440" cy="265176"/>
          </a:xfrm>
          <a:prstGeom prst="roundRect">
            <a:avLst>
              <a:gd name="adj" fmla="val 27586"/>
            </a:avLst>
          </a:prstGeom>
          <a:solidFill>
            <a:srgbClr val="0B1120"/>
          </a:solidFill>
          <a:ln w="12700">
            <a:solidFill>
              <a:srgbClr val="2B3F6B"/>
            </a:solidFill>
            <a:prstDash val="solid"/>
          </a:ln>
        </p:spPr>
      </p:sp>
      <p:sp>
        <p:nvSpPr>
          <p:cNvPr id="26" name="Text 23"/>
          <p:cNvSpPr txBox="1"/>
          <p:nvPr/>
        </p:nvSpPr>
        <p:spPr>
          <a:xfrm>
            <a:off x="6263640" y="210312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  Phishing through television</a:t>
            </a:r>
            <a:endParaRPr lang="en-US" sz="1050" dirty="0"/>
          </a:p>
        </p:txBody>
      </p:sp>
      <p:sp>
        <p:nvSpPr>
          <p:cNvPr id="27" name="Shape 24"/>
          <p:cNvSpPr/>
          <p:nvPr/>
        </p:nvSpPr>
        <p:spPr>
          <a:xfrm>
            <a:off x="6172200" y="2423160"/>
            <a:ext cx="2377440" cy="265176"/>
          </a:xfrm>
          <a:prstGeom prst="roundRect">
            <a:avLst>
              <a:gd name="adj" fmla="val 27586"/>
            </a:avLst>
          </a:prstGeom>
          <a:solidFill>
            <a:srgbClr val="0B1120"/>
          </a:solidFill>
          <a:ln w="12700">
            <a:solidFill>
              <a:srgbClr val="2B3F6B"/>
            </a:solidFill>
            <a:prstDash val="solid"/>
          </a:ln>
        </p:spPr>
      </p:sp>
      <p:sp>
        <p:nvSpPr>
          <p:cNvPr id="28" name="Text 25"/>
          <p:cNvSpPr txBox="1"/>
          <p:nvPr/>
        </p:nvSpPr>
        <p:spPr>
          <a:xfrm>
            <a:off x="6263640" y="242316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C.  A software update</a:t>
            </a:r>
            <a:endParaRPr lang="en-US" sz="1050" dirty="0"/>
          </a:p>
        </p:txBody>
      </p:sp>
      <p:sp>
        <p:nvSpPr>
          <p:cNvPr id="29" name="Shape 26"/>
          <p:cNvSpPr/>
          <p:nvPr/>
        </p:nvSpPr>
        <p:spPr>
          <a:xfrm>
            <a:off x="457200" y="2926080"/>
            <a:ext cx="2651760" cy="1600200"/>
          </a:xfrm>
          <a:prstGeom prst="roundRect">
            <a:avLst>
              <a:gd name="adj" fmla="val 4571"/>
            </a:avLst>
          </a:prstGeom>
          <a:solidFill>
            <a:srgbClr val="111C33"/>
          </a:solidFill>
          <a:ln w="12700">
            <a:solidFill>
              <a:srgbClr val="1F3157"/>
            </a:solidFill>
            <a:prstDash val="solid"/>
          </a:ln>
        </p:spPr>
      </p:sp>
      <p:sp>
        <p:nvSpPr>
          <p:cNvPr id="30" name="Text 27"/>
          <p:cNvSpPr txBox="1"/>
          <p:nvPr/>
        </p:nvSpPr>
        <p:spPr>
          <a:xfrm>
            <a:off x="594360" y="3017520"/>
            <a:ext cx="2377440" cy="4572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Q4. Does HTTPS guarantee that a website is trustworthy?</a:t>
            </a:r>
            <a:endParaRPr lang="en-US" sz="1100" dirty="0"/>
          </a:p>
        </p:txBody>
      </p:sp>
      <p:sp>
        <p:nvSpPr>
          <p:cNvPr id="31" name="Shape 28"/>
          <p:cNvSpPr/>
          <p:nvPr/>
        </p:nvSpPr>
        <p:spPr>
          <a:xfrm>
            <a:off x="594360" y="3520440"/>
            <a:ext cx="2377440" cy="265176"/>
          </a:xfrm>
          <a:prstGeom prst="roundRect">
            <a:avLst>
              <a:gd name="adj" fmla="val 27586"/>
            </a:avLst>
          </a:prstGeom>
          <a:solidFill>
            <a:srgbClr val="0B1120"/>
          </a:solidFill>
          <a:ln w="12700">
            <a:solidFill>
              <a:srgbClr val="2B3F6B"/>
            </a:solidFill>
            <a:prstDash val="solid"/>
          </a:ln>
        </p:spPr>
      </p:sp>
      <p:sp>
        <p:nvSpPr>
          <p:cNvPr id="32" name="Text 29"/>
          <p:cNvSpPr txBox="1"/>
          <p:nvPr/>
        </p:nvSpPr>
        <p:spPr>
          <a:xfrm>
            <a:off x="685800" y="352044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  Yes</a:t>
            </a:r>
            <a:endParaRPr lang="en-US" sz="1050" dirty="0"/>
          </a:p>
        </p:txBody>
      </p:sp>
      <p:sp>
        <p:nvSpPr>
          <p:cNvPr id="33" name="Shape 30"/>
          <p:cNvSpPr/>
          <p:nvPr/>
        </p:nvSpPr>
        <p:spPr>
          <a:xfrm>
            <a:off x="594360" y="3840480"/>
            <a:ext cx="2377440" cy="265176"/>
          </a:xfrm>
          <a:prstGeom prst="roundRect">
            <a:avLst>
              <a:gd name="adj" fmla="val 27586"/>
            </a:avLst>
          </a:prstGeom>
          <a:solidFill>
            <a:srgbClr val="0B1120"/>
          </a:solidFill>
          <a:ln w="12700">
            <a:solidFill>
              <a:srgbClr val="2B3F6B"/>
            </a:solidFill>
            <a:prstDash val="solid"/>
          </a:ln>
        </p:spPr>
      </p:sp>
      <p:sp>
        <p:nvSpPr>
          <p:cNvPr id="34" name="Text 31"/>
          <p:cNvSpPr txBox="1"/>
          <p:nvPr/>
        </p:nvSpPr>
        <p:spPr>
          <a:xfrm>
            <a:off x="685800" y="384048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  No</a:t>
            </a:r>
            <a:endParaRPr lang="en-US" sz="1050" dirty="0"/>
          </a:p>
        </p:txBody>
      </p:sp>
      <p:sp>
        <p:nvSpPr>
          <p:cNvPr id="35" name="Shape 32"/>
          <p:cNvSpPr/>
          <p:nvPr/>
        </p:nvSpPr>
        <p:spPr>
          <a:xfrm>
            <a:off x="3246120" y="2926080"/>
            <a:ext cx="2651760" cy="1600200"/>
          </a:xfrm>
          <a:prstGeom prst="roundRect">
            <a:avLst>
              <a:gd name="adj" fmla="val 4571"/>
            </a:avLst>
          </a:prstGeom>
          <a:solidFill>
            <a:srgbClr val="111C33"/>
          </a:solidFill>
          <a:ln w="12700">
            <a:solidFill>
              <a:srgbClr val="1F3157"/>
            </a:solidFill>
            <a:prstDash val="solid"/>
          </a:ln>
        </p:spPr>
      </p:sp>
      <p:sp>
        <p:nvSpPr>
          <p:cNvPr id="36" name="Text 33"/>
          <p:cNvSpPr txBox="1"/>
          <p:nvPr/>
        </p:nvSpPr>
        <p:spPr>
          <a:xfrm>
            <a:off x="3383280" y="3017520"/>
            <a:ext cx="2377440" cy="45720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Q5. Safest response to an unexpected login link?</a:t>
            </a:r>
            <a:endParaRPr lang="en-US" sz="1100" dirty="0"/>
          </a:p>
        </p:txBody>
      </p:sp>
      <p:sp>
        <p:nvSpPr>
          <p:cNvPr id="37" name="Shape 34"/>
          <p:cNvSpPr/>
          <p:nvPr/>
        </p:nvSpPr>
        <p:spPr>
          <a:xfrm>
            <a:off x="3383280" y="3520440"/>
            <a:ext cx="2377440" cy="265176"/>
          </a:xfrm>
          <a:prstGeom prst="roundRect">
            <a:avLst>
              <a:gd name="adj" fmla="val 27586"/>
            </a:avLst>
          </a:prstGeom>
          <a:solidFill>
            <a:srgbClr val="0B1120"/>
          </a:solidFill>
          <a:ln w="12700">
            <a:solidFill>
              <a:srgbClr val="2B3F6B"/>
            </a:solidFill>
            <a:prstDash val="solid"/>
          </a:ln>
        </p:spPr>
      </p:sp>
      <p:sp>
        <p:nvSpPr>
          <p:cNvPr id="38" name="Text 35"/>
          <p:cNvSpPr txBox="1"/>
          <p:nvPr/>
        </p:nvSpPr>
        <p:spPr>
          <a:xfrm>
            <a:off x="3474720" y="352044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  Enter your password</a:t>
            </a:r>
            <a:endParaRPr lang="en-US" sz="1050" dirty="0"/>
          </a:p>
        </p:txBody>
      </p:sp>
      <p:sp>
        <p:nvSpPr>
          <p:cNvPr id="39" name="Shape 36"/>
          <p:cNvSpPr/>
          <p:nvPr/>
        </p:nvSpPr>
        <p:spPr>
          <a:xfrm>
            <a:off x="3383280" y="3840480"/>
            <a:ext cx="2377440" cy="265176"/>
          </a:xfrm>
          <a:prstGeom prst="roundRect">
            <a:avLst>
              <a:gd name="adj" fmla="val 27586"/>
            </a:avLst>
          </a:prstGeom>
          <a:solidFill>
            <a:srgbClr val="0B1120"/>
          </a:solidFill>
          <a:ln w="12700">
            <a:solidFill>
              <a:srgbClr val="2B3F6B"/>
            </a:solidFill>
            <a:prstDash val="solid"/>
          </a:ln>
        </p:spPr>
      </p:sp>
      <p:sp>
        <p:nvSpPr>
          <p:cNvPr id="40" name="Text 37"/>
          <p:cNvSpPr txBox="1"/>
          <p:nvPr/>
        </p:nvSpPr>
        <p:spPr>
          <a:xfrm>
            <a:off x="3474720" y="384048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B.  Share the link</a:t>
            </a:r>
            <a:endParaRPr lang="en-US" sz="1050" dirty="0"/>
          </a:p>
        </p:txBody>
      </p:sp>
      <p:sp>
        <p:nvSpPr>
          <p:cNvPr id="41" name="Shape 38"/>
          <p:cNvSpPr/>
          <p:nvPr/>
        </p:nvSpPr>
        <p:spPr>
          <a:xfrm>
            <a:off x="3383280" y="4160520"/>
            <a:ext cx="2377440" cy="265176"/>
          </a:xfrm>
          <a:prstGeom prst="roundRect">
            <a:avLst>
              <a:gd name="adj" fmla="val 27586"/>
            </a:avLst>
          </a:prstGeom>
          <a:solidFill>
            <a:srgbClr val="0B1120"/>
          </a:solidFill>
          <a:ln w="12700">
            <a:solidFill>
              <a:srgbClr val="2B3F6B"/>
            </a:solidFill>
            <a:prstDash val="solid"/>
          </a:ln>
        </p:spPr>
      </p:sp>
      <p:sp>
        <p:nvSpPr>
          <p:cNvPr id="42" name="Text 39"/>
          <p:cNvSpPr txBox="1"/>
          <p:nvPr/>
        </p:nvSpPr>
        <p:spPr>
          <a:xfrm>
            <a:off x="3474720" y="4160520"/>
            <a:ext cx="2240280" cy="265176"/>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C.  Visit the official website independently</a:t>
            </a:r>
            <a:endParaRPr lang="en-US" sz="1050" dirty="0"/>
          </a:p>
        </p:txBody>
      </p:sp>
      <p:sp>
        <p:nvSpPr>
          <p:cNvPr id="43" name="Shape 40"/>
          <p:cNvSpPr/>
          <p:nvPr/>
        </p:nvSpPr>
        <p:spPr>
          <a:xfrm>
            <a:off x="6035040" y="2926080"/>
            <a:ext cx="2651760" cy="1600200"/>
          </a:xfrm>
          <a:prstGeom prst="roundRect">
            <a:avLst>
              <a:gd name="adj" fmla="val 4571"/>
            </a:avLst>
          </a:prstGeom>
          <a:solidFill>
            <a:srgbClr val="111C33"/>
          </a:solidFill>
          <a:ln w="19050">
            <a:solidFill>
              <a:srgbClr val="00D4FF"/>
            </a:solidFill>
            <a:prstDash val="solid"/>
          </a:ln>
        </p:spPr>
      </p:sp>
      <p:sp>
        <p:nvSpPr>
          <p:cNvPr id="44" name="Shape 41"/>
          <p:cNvSpPr/>
          <p:nvPr/>
        </p:nvSpPr>
        <p:spPr>
          <a:xfrm>
            <a:off x="6323076" y="3259836"/>
            <a:ext cx="521208" cy="521208"/>
          </a:xfrm>
          <a:prstGeom prst="ellipse">
            <a:avLst/>
          </a:prstGeom>
          <a:solidFill>
            <a:srgbClr val="00D4FF">
              <a:alpha val="15000"/>
            </a:srgbClr>
          </a:solidFill>
          <a:ln w="9525">
            <a:solidFill>
              <a:srgbClr val="00D4FF">
                <a:alpha val="50000"/>
              </a:srgbClr>
            </a:solidFill>
            <a:prstDash val="solid"/>
          </a:ln>
        </p:spPr>
      </p:sp>
      <p:pic>
        <p:nvPicPr>
          <p:cNvPr id="45" name="Image 0" descr="preencoded.png">    </p:cNvPr>
          <p:cNvPicPr>
            <a:picLocks noChangeAspect="1"/>
          </p:cNvPicPr>
          <p:nvPr/>
        </p:nvPicPr>
        <p:blipFill>
          <a:blip r:embed="rId1"/>
          <a:stretch>
            <a:fillRect/>
          </a:stretch>
        </p:blipFill>
        <p:spPr>
          <a:xfrm>
            <a:off x="6446520" y="3383280"/>
            <a:ext cx="274320" cy="274320"/>
          </a:xfrm>
          <a:prstGeom prst="rect">
            <a:avLst/>
          </a:prstGeom>
        </p:spPr>
      </p:pic>
      <p:sp>
        <p:nvSpPr>
          <p:cNvPr id="46" name="Text 42"/>
          <p:cNvSpPr txBox="1"/>
          <p:nvPr/>
        </p:nvSpPr>
        <p:spPr>
          <a:xfrm>
            <a:off x="7040880" y="3246120"/>
            <a:ext cx="155448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Check your answers</a:t>
            </a:r>
            <a:endParaRPr lang="en-US" sz="1300" dirty="0"/>
          </a:p>
        </p:txBody>
      </p:sp>
      <p:sp>
        <p:nvSpPr>
          <p:cNvPr id="47" name="Text 43"/>
          <p:cNvSpPr txBox="1"/>
          <p:nvPr/>
        </p:nvSpPr>
        <p:spPr>
          <a:xfrm>
            <a:off x="6217920" y="3931920"/>
            <a:ext cx="2286000" cy="5486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Score yourself out of 5. Answers are in the speaker notes.</a:t>
            </a:r>
            <a:endParaRPr lang="en-US" sz="11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457200" y="502920"/>
            <a:ext cx="54864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THINK BEFORE YOU CLICK!</a:t>
            </a:r>
            <a:endParaRPr lang="en-US" sz="3400" dirty="0"/>
          </a:p>
        </p:txBody>
      </p:sp>
      <p:pic>
        <p:nvPicPr>
          <p:cNvPr id="4" name="Image 0" descr="preencoded.png">    </p:cNvPr>
          <p:cNvPicPr>
            <a:picLocks noChangeAspect="1"/>
          </p:cNvPicPr>
          <p:nvPr/>
        </p:nvPicPr>
        <p:blipFill>
          <a:blip r:embed="rId1"/>
          <a:stretch>
            <a:fillRect/>
          </a:stretch>
        </p:blipFill>
        <p:spPr>
          <a:xfrm>
            <a:off x="530352" y="1673352"/>
            <a:ext cx="219456" cy="219456"/>
          </a:xfrm>
          <a:prstGeom prst="rect">
            <a:avLst/>
          </a:prstGeom>
        </p:spPr>
      </p:pic>
      <p:sp>
        <p:nvSpPr>
          <p:cNvPr id="5" name="Text 1"/>
          <p:cNvSpPr txBox="1"/>
          <p:nvPr/>
        </p:nvSpPr>
        <p:spPr>
          <a:xfrm>
            <a:off x="1005840" y="160020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Recognize suspicious messages.</a:t>
            </a:r>
            <a:endParaRPr lang="en-US" sz="1500" dirty="0"/>
          </a:p>
        </p:txBody>
      </p:sp>
      <p:pic>
        <p:nvPicPr>
          <p:cNvPr id="6" name="Image 1" descr="preencoded.png">    </p:cNvPr>
          <p:cNvPicPr>
            <a:picLocks noChangeAspect="1"/>
          </p:cNvPicPr>
          <p:nvPr/>
        </p:nvPicPr>
        <p:blipFill>
          <a:blip r:embed="rId2"/>
          <a:stretch>
            <a:fillRect/>
          </a:stretch>
        </p:blipFill>
        <p:spPr>
          <a:xfrm>
            <a:off x="530352" y="2084832"/>
            <a:ext cx="219456" cy="219456"/>
          </a:xfrm>
          <a:prstGeom prst="rect">
            <a:avLst/>
          </a:prstGeom>
        </p:spPr>
      </p:pic>
      <p:sp>
        <p:nvSpPr>
          <p:cNvPr id="7" name="Text 2"/>
          <p:cNvSpPr txBox="1"/>
          <p:nvPr/>
        </p:nvSpPr>
        <p:spPr>
          <a:xfrm>
            <a:off x="1005840" y="201168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Verify identities and website addresses.</a:t>
            </a:r>
            <a:endParaRPr lang="en-US" sz="1500" dirty="0"/>
          </a:p>
        </p:txBody>
      </p:sp>
      <p:pic>
        <p:nvPicPr>
          <p:cNvPr id="8" name="Image 2" descr="preencoded.png">    </p:cNvPr>
          <p:cNvPicPr>
            <a:picLocks noChangeAspect="1"/>
          </p:cNvPicPr>
          <p:nvPr/>
        </p:nvPicPr>
        <p:blipFill>
          <a:blip r:embed="rId3"/>
          <a:stretch>
            <a:fillRect/>
          </a:stretch>
        </p:blipFill>
        <p:spPr>
          <a:xfrm>
            <a:off x="530352" y="2496312"/>
            <a:ext cx="219456" cy="219456"/>
          </a:xfrm>
          <a:prstGeom prst="rect">
            <a:avLst/>
          </a:prstGeom>
        </p:spPr>
      </p:pic>
      <p:sp>
        <p:nvSpPr>
          <p:cNvPr id="9" name="Text 3"/>
          <p:cNvSpPr txBox="1"/>
          <p:nvPr/>
        </p:nvSpPr>
        <p:spPr>
          <a:xfrm>
            <a:off x="1005840" y="242316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Protect passwords and personal information.</a:t>
            </a:r>
            <a:endParaRPr lang="en-US" sz="1500" dirty="0"/>
          </a:p>
        </p:txBody>
      </p:sp>
      <p:pic>
        <p:nvPicPr>
          <p:cNvPr id="10" name="Image 3" descr="preencoded.png">    </p:cNvPr>
          <p:cNvPicPr>
            <a:picLocks noChangeAspect="1"/>
          </p:cNvPicPr>
          <p:nvPr/>
        </p:nvPicPr>
        <p:blipFill>
          <a:blip r:embed="rId4"/>
          <a:stretch>
            <a:fillRect/>
          </a:stretch>
        </p:blipFill>
        <p:spPr>
          <a:xfrm>
            <a:off x="530352" y="2907792"/>
            <a:ext cx="219456" cy="219456"/>
          </a:xfrm>
          <a:prstGeom prst="rect">
            <a:avLst/>
          </a:prstGeom>
        </p:spPr>
      </p:pic>
      <p:sp>
        <p:nvSpPr>
          <p:cNvPr id="11" name="Text 4"/>
          <p:cNvSpPr txBox="1"/>
          <p:nvPr/>
        </p:nvSpPr>
        <p:spPr>
          <a:xfrm>
            <a:off x="1005840" y="283464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Report potential phishing attacks.</a:t>
            </a:r>
            <a:endParaRPr lang="en-US" sz="1500" dirty="0"/>
          </a:p>
        </p:txBody>
      </p:sp>
      <p:pic>
        <p:nvPicPr>
          <p:cNvPr id="12" name="Image 4" descr="preencoded.png">    </p:cNvPr>
          <p:cNvPicPr>
            <a:picLocks noChangeAspect="1"/>
          </p:cNvPicPr>
          <p:nvPr/>
        </p:nvPicPr>
        <p:blipFill>
          <a:blip r:embed="rId5"/>
          <a:stretch>
            <a:fillRect/>
          </a:stretch>
        </p:blipFill>
        <p:spPr>
          <a:xfrm>
            <a:off x="530352" y="3319272"/>
            <a:ext cx="219456" cy="219456"/>
          </a:xfrm>
          <a:prstGeom prst="rect">
            <a:avLst/>
          </a:prstGeom>
        </p:spPr>
      </p:pic>
      <p:sp>
        <p:nvSpPr>
          <p:cNvPr id="13" name="Text 5"/>
          <p:cNvSpPr txBox="1"/>
          <p:nvPr/>
        </p:nvSpPr>
        <p:spPr>
          <a:xfrm>
            <a:off x="1005840" y="3246120"/>
            <a:ext cx="457200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Practice safe online behavior.</a:t>
            </a:r>
            <a:endParaRPr lang="en-US" sz="1500" dirty="0"/>
          </a:p>
        </p:txBody>
      </p:sp>
      <p:sp>
        <p:nvSpPr>
          <p:cNvPr id="14" name="Text 6"/>
          <p:cNvSpPr txBox="1"/>
          <p:nvPr/>
        </p:nvSpPr>
        <p:spPr>
          <a:xfrm>
            <a:off x="457200" y="3794760"/>
            <a:ext cx="5120640" cy="731520"/>
          </a:xfrm>
          <a:prstGeom prst="rect">
            <a:avLst/>
          </a:prstGeom>
          <a:noFill/>
          <a:ln/>
        </p:spPr>
        <p:txBody>
          <a:bodyPr wrap="square" lIns="0" tIns="0" rIns="0" bIns="0" rtlCol="0" anchor="ctr"/>
          <a:lstStyle/>
          <a:p>
            <a:pPr indent="0" marL="0">
              <a:buNone/>
            </a:pPr>
            <a:r>
              <a:rPr lang="en-US" sz="1500" i="1" dirty="0">
                <a:solidFill>
                  <a:srgbClr val="00D4FF"/>
                </a:solidFill>
                <a:latin typeface="Calibri" pitchFamily="34" charset="0"/>
                <a:ea typeface="Calibri" pitchFamily="34" charset="-122"/>
                <a:cs typeface="Calibri" pitchFamily="34" charset="-120"/>
              </a:rPr>
              <a:t>"Cybersecurity begins with awareness. One careful decision can prevent a phishing attack."</a:t>
            </a:r>
            <a:endParaRPr lang="en-US" sz="1500" dirty="0"/>
          </a:p>
        </p:txBody>
      </p:sp>
      <p:sp>
        <p:nvSpPr>
          <p:cNvPr id="15" name="Shape 7"/>
          <p:cNvSpPr/>
          <p:nvPr/>
        </p:nvSpPr>
        <p:spPr>
          <a:xfrm>
            <a:off x="5852160" y="548640"/>
            <a:ext cx="2926080" cy="2926080"/>
          </a:xfrm>
          <a:prstGeom prst="ellipse">
            <a:avLst/>
          </a:prstGeom>
          <a:solidFill>
            <a:srgbClr val="00D4FF">
              <a:alpha val="6000"/>
            </a:srgbClr>
          </a:solidFill>
          <a:ln w="6350">
            <a:solidFill>
              <a:srgbClr val="00D4FF">
                <a:alpha val="20000"/>
              </a:srgbClr>
            </a:solidFill>
            <a:prstDash val="solid"/>
          </a:ln>
        </p:spPr>
      </p:sp>
      <p:sp>
        <p:nvSpPr>
          <p:cNvPr id="16" name="Shape 8"/>
          <p:cNvSpPr/>
          <p:nvPr/>
        </p:nvSpPr>
        <p:spPr>
          <a:xfrm>
            <a:off x="6174029" y="870509"/>
            <a:ext cx="2282342" cy="2282342"/>
          </a:xfrm>
          <a:prstGeom prst="ellipse">
            <a:avLst/>
          </a:prstGeom>
          <a:solidFill>
            <a:srgbClr val="00D4FF">
              <a:alpha val="11000"/>
            </a:srgbClr>
          </a:solidFill>
          <a:ln w="6350">
            <a:solidFill>
              <a:srgbClr val="00D4FF">
                <a:alpha val="20000"/>
              </a:srgbClr>
            </a:solidFill>
            <a:prstDash val="solid"/>
          </a:ln>
        </p:spPr>
      </p:sp>
      <p:sp>
        <p:nvSpPr>
          <p:cNvPr id="17" name="Shape 9"/>
          <p:cNvSpPr/>
          <p:nvPr/>
        </p:nvSpPr>
        <p:spPr>
          <a:xfrm>
            <a:off x="6495898" y="1192378"/>
            <a:ext cx="1638605" cy="1638605"/>
          </a:xfrm>
          <a:prstGeom prst="ellipse">
            <a:avLst/>
          </a:prstGeom>
          <a:solidFill>
            <a:srgbClr val="00D4FF">
              <a:alpha val="16000"/>
            </a:srgbClr>
          </a:solidFill>
          <a:ln w="6350">
            <a:solidFill>
              <a:srgbClr val="00D4FF">
                <a:alpha val="20000"/>
              </a:srgbClr>
            </a:solidFill>
            <a:prstDash val="solid"/>
          </a:ln>
        </p:spPr>
      </p:sp>
      <p:pic>
        <p:nvPicPr>
          <p:cNvPr id="18" name="Image 5" descr="preencoded.png">    </p:cNvPr>
          <p:cNvPicPr>
            <a:picLocks noChangeAspect="1"/>
          </p:cNvPicPr>
          <p:nvPr/>
        </p:nvPicPr>
        <p:blipFill>
          <a:blip r:embed="rId6"/>
          <a:stretch>
            <a:fillRect/>
          </a:stretch>
        </p:blipFill>
        <p:spPr>
          <a:xfrm>
            <a:off x="6812280" y="1508760"/>
            <a:ext cx="1005840" cy="1005840"/>
          </a:xfrm>
          <a:prstGeom prst="rect">
            <a:avLst/>
          </a:prstGeom>
        </p:spPr>
      </p:pic>
      <p:sp>
        <p:nvSpPr>
          <p:cNvPr id="19" name="Text 10"/>
          <p:cNvSpPr txBox="1"/>
          <p:nvPr/>
        </p:nvSpPr>
        <p:spPr>
          <a:xfrm>
            <a:off x="5852160" y="3566160"/>
            <a:ext cx="2926080" cy="45720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20" name="Text 11"/>
          <p:cNvSpPr txBox="1"/>
          <p:nvPr/>
        </p:nvSpPr>
        <p:spPr>
          <a:xfrm>
            <a:off x="5852160" y="4069080"/>
            <a:ext cx="2926080" cy="457200"/>
          </a:xfrm>
          <a:prstGeom prst="rect">
            <a:avLst/>
          </a:prstGeom>
          <a:noFill/>
          <a:ln/>
        </p:spPr>
        <p:txBody>
          <a:bodyPr wrap="square" lIns="0" tIns="0" rIns="0" bIns="0" rtlCol="0" anchor="t"/>
          <a:lstStyle/>
          <a:p>
            <a:pPr algn="ctr" indent="0" marL="0">
              <a:buNone/>
            </a:pPr>
            <a:r>
              <a:rPr lang="en-US" sz="1200" dirty="0">
                <a:solidFill>
                  <a:srgbClr val="94A3B8"/>
                </a:solidFill>
                <a:latin typeface="Calibri" pitchFamily="34" charset="0"/>
                <a:ea typeface="Calibri" pitchFamily="34" charset="-122"/>
                <a:cs typeface="Calibri" pitchFamily="34" charset="-120"/>
              </a:rPr>
              <a:t>CodeAlpha Cyber Security Internship – Task 2</a:t>
            </a:r>
            <a:endParaRPr lang="en-US" sz="12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 Training</dc:title>
  <dc:subject>PptxGenJS Presentation</dc:subject>
  <dc:creator>Pataan Sana Firdhose</dc:creator>
  <cp:lastModifiedBy>Pataan Sana Firdhose</cp:lastModifiedBy>
  <cp:revision>1</cp:revision>
  <dcterms:created xsi:type="dcterms:W3CDTF">2026-10-10T16:19:47Z</dcterms:created>
  <dcterms:modified xsi:type="dcterms:W3CDTF">2026-10-10T16:19:48Z</dcterms:modified>
</cp:coreProperties>
</file>